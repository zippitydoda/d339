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4"/>
  </p:sldMasterIdLst>
  <p:notesMasterIdLst>
    <p:notesMasterId r:id="rId11"/>
  </p:notesMasterIdLst>
  <p:sldIdLst>
    <p:sldId id="257" r:id="rId5"/>
    <p:sldId id="258" r:id="rId6"/>
    <p:sldId id="259" r:id="rId7"/>
    <p:sldId id="260" r:id="rId8"/>
    <p:sldId id="262" r:id="rId9"/>
    <p:sldId id="261"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67B814-E6E2-43F0-AA23-12F65BD07238}" v="2" dt="2023-03-20T18:07:39.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861" autoAdjust="0"/>
  </p:normalViewPr>
  <p:slideViewPr>
    <p:cSldViewPr snapToGrid="0">
      <p:cViewPr varScale="1">
        <p:scale>
          <a:sx n="127" d="100"/>
          <a:sy n="127" d="100"/>
        </p:scale>
        <p:origin x="1626" y="120"/>
      </p:cViewPr>
      <p:guideLst/>
    </p:cSldViewPr>
  </p:slideViewPr>
  <p:notesTextViewPr>
    <p:cViewPr>
      <p:scale>
        <a:sx n="1" d="1"/>
        <a:sy n="1" d="1"/>
      </p:scale>
      <p:origin x="0" y="0"/>
    </p:cViewPr>
  </p:notesTextViewPr>
  <p:notesViewPr>
    <p:cSldViewPr snapToGrid="0">
      <p:cViewPr>
        <p:scale>
          <a:sx n="100" d="100"/>
          <a:sy n="100" d="100"/>
        </p:scale>
        <p:origin x="1628" y="-9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ye Kagele" userId="S::faye.kagele@wgu.edu::3184576d-6765-4bae-b38c-4a93228472f9" providerId="AD" clId="Web-{491A81AA-DB47-378F-1592-455079E68B07}"/>
    <pc:docChg chg="modSld">
      <pc:chgData name="Faye Kagele" userId="S::faye.kagele@wgu.edu::3184576d-6765-4bae-b38c-4a93228472f9" providerId="AD" clId="Web-{491A81AA-DB47-378F-1592-455079E68B07}" dt="2023-03-20T19:43:57.957" v="28"/>
      <pc:docMkLst>
        <pc:docMk/>
      </pc:docMkLst>
      <pc:sldChg chg="modNotes">
        <pc:chgData name="Faye Kagele" userId="S::faye.kagele@wgu.edu::3184576d-6765-4bae-b38c-4a93228472f9" providerId="AD" clId="Web-{491A81AA-DB47-378F-1592-455079E68B07}" dt="2023-03-20T19:43:57.957" v="28"/>
        <pc:sldMkLst>
          <pc:docMk/>
          <pc:sldMk cId="2814086812" sldId="259"/>
        </pc:sldMkLst>
      </pc:sldChg>
    </pc:docChg>
  </pc:docChgLst>
  <pc:docChgLst>
    <pc:chgData name="Faye Kagele" userId="3184576d-6765-4bae-b38c-4a93228472f9" providerId="ADAL" clId="{65D4FE7D-81F8-4D06-A4CB-B1254836785E}"/>
    <pc:docChg chg="modSld">
      <pc:chgData name="Faye Kagele" userId="3184576d-6765-4bae-b38c-4a93228472f9" providerId="ADAL" clId="{65D4FE7D-81F8-4D06-A4CB-B1254836785E}" dt="2023-03-20T19:24:33.696" v="9" actId="20577"/>
      <pc:docMkLst>
        <pc:docMk/>
      </pc:docMkLst>
      <pc:sldChg chg="modNotesTx">
        <pc:chgData name="Faye Kagele" userId="3184576d-6765-4bae-b38c-4a93228472f9" providerId="ADAL" clId="{65D4FE7D-81F8-4D06-A4CB-B1254836785E}" dt="2023-03-20T19:23:52.831" v="4" actId="20577"/>
        <pc:sldMkLst>
          <pc:docMk/>
          <pc:sldMk cId="666771213" sldId="260"/>
        </pc:sldMkLst>
      </pc:sldChg>
      <pc:sldChg chg="modSp mod">
        <pc:chgData name="Faye Kagele" userId="3184576d-6765-4bae-b38c-4a93228472f9" providerId="ADAL" clId="{65D4FE7D-81F8-4D06-A4CB-B1254836785E}" dt="2023-03-20T19:24:33.696" v="9" actId="20577"/>
        <pc:sldMkLst>
          <pc:docMk/>
          <pc:sldMk cId="1815554972" sldId="261"/>
        </pc:sldMkLst>
        <pc:spChg chg="mod">
          <ac:chgData name="Faye Kagele" userId="3184576d-6765-4bae-b38c-4a93228472f9" providerId="ADAL" clId="{65D4FE7D-81F8-4D06-A4CB-B1254836785E}" dt="2023-03-20T19:24:33.696" v="9" actId="20577"/>
          <ac:spMkLst>
            <pc:docMk/>
            <pc:sldMk cId="1815554972" sldId="261"/>
            <ac:spMk id="3" creationId="{2AC40100-FBD2-6B0E-B5FB-4B3E8D82714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1C85D3-6A20-47CA-B031-97CDD495A751}"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08485DA1-6D5F-40E6-87C2-8BF3E9AD283A}">
      <dgm:prSet/>
      <dgm:spPr/>
      <dgm:t>
        <a:bodyPr/>
        <a:lstStyle/>
        <a:p>
          <a:r>
            <a:rPr lang="en-US" dirty="0"/>
            <a:t>In this presentation, we will discuss:</a:t>
          </a:r>
        </a:p>
      </dgm:t>
    </dgm:pt>
    <dgm:pt modelId="{8D4E5E3B-AB3A-4BEA-B285-0EF514538464}" type="parTrans" cxnId="{7E181C94-3210-4404-8278-44991F402467}">
      <dgm:prSet/>
      <dgm:spPr/>
      <dgm:t>
        <a:bodyPr/>
        <a:lstStyle/>
        <a:p>
          <a:endParaRPr lang="en-US"/>
        </a:p>
      </dgm:t>
    </dgm:pt>
    <dgm:pt modelId="{96435E7F-ACE7-406D-B07D-1FFD5BEBE7F0}" type="sibTrans" cxnId="{7E181C94-3210-4404-8278-44991F402467}">
      <dgm:prSet/>
      <dgm:spPr/>
      <dgm:t>
        <a:bodyPr/>
        <a:lstStyle/>
        <a:p>
          <a:endParaRPr lang="en-US"/>
        </a:p>
      </dgm:t>
    </dgm:pt>
    <dgm:pt modelId="{C71348AC-E782-433B-9C2D-62F010D66432}">
      <dgm:prSet/>
      <dgm:spPr/>
      <dgm:t>
        <a:bodyPr/>
        <a:lstStyle/>
        <a:p>
          <a:r>
            <a:rPr lang="en-US"/>
            <a:t>What is Unreal Engine and why should we use it over Unity Game Engine?</a:t>
          </a:r>
        </a:p>
      </dgm:t>
    </dgm:pt>
    <dgm:pt modelId="{8FE151E3-5221-41D1-AEA1-B521687CD172}" type="parTrans" cxnId="{78EA4205-D352-4B2D-9230-760AFD9A2C19}">
      <dgm:prSet/>
      <dgm:spPr/>
      <dgm:t>
        <a:bodyPr/>
        <a:lstStyle/>
        <a:p>
          <a:endParaRPr lang="en-US"/>
        </a:p>
      </dgm:t>
    </dgm:pt>
    <dgm:pt modelId="{D01C5ECB-0D35-433B-A017-FC17627F6215}" type="sibTrans" cxnId="{78EA4205-D352-4B2D-9230-760AFD9A2C19}">
      <dgm:prSet/>
      <dgm:spPr/>
      <dgm:t>
        <a:bodyPr/>
        <a:lstStyle/>
        <a:p>
          <a:endParaRPr lang="en-US"/>
        </a:p>
      </dgm:t>
    </dgm:pt>
    <dgm:pt modelId="{C64F3800-2951-494B-91D2-E592653C79DB}">
      <dgm:prSet/>
      <dgm:spPr/>
      <dgm:t>
        <a:bodyPr/>
        <a:lstStyle/>
        <a:p>
          <a:r>
            <a:rPr lang="en-US"/>
            <a:t>The benefits of adopting this technology to our company to our future projects. </a:t>
          </a:r>
        </a:p>
      </dgm:t>
    </dgm:pt>
    <dgm:pt modelId="{1F402493-531B-4EF1-ADE5-47114BE95D4D}" type="parTrans" cxnId="{F6E8AF55-7E34-47AF-9F82-3F66738DC9C4}">
      <dgm:prSet/>
      <dgm:spPr/>
      <dgm:t>
        <a:bodyPr/>
        <a:lstStyle/>
        <a:p>
          <a:endParaRPr lang="en-US"/>
        </a:p>
      </dgm:t>
    </dgm:pt>
    <dgm:pt modelId="{2BE26EE7-6107-4163-8773-6D96FF8A148F}" type="sibTrans" cxnId="{F6E8AF55-7E34-47AF-9F82-3F66738DC9C4}">
      <dgm:prSet/>
      <dgm:spPr/>
      <dgm:t>
        <a:bodyPr/>
        <a:lstStyle/>
        <a:p>
          <a:endParaRPr lang="en-US"/>
        </a:p>
      </dgm:t>
    </dgm:pt>
    <dgm:pt modelId="{2948F9F3-1788-4A18-BD1B-C78B3264F7EE}" type="pres">
      <dgm:prSet presAssocID="{151C85D3-6A20-47CA-B031-97CDD495A751}" presName="linear" presStyleCnt="0">
        <dgm:presLayoutVars>
          <dgm:animLvl val="lvl"/>
          <dgm:resizeHandles val="exact"/>
        </dgm:presLayoutVars>
      </dgm:prSet>
      <dgm:spPr/>
    </dgm:pt>
    <dgm:pt modelId="{01F518A2-0655-4B73-97ED-70A15CD1ECAA}" type="pres">
      <dgm:prSet presAssocID="{08485DA1-6D5F-40E6-87C2-8BF3E9AD283A}" presName="parentText" presStyleLbl="node1" presStyleIdx="0" presStyleCnt="1">
        <dgm:presLayoutVars>
          <dgm:chMax val="0"/>
          <dgm:bulletEnabled val="1"/>
        </dgm:presLayoutVars>
      </dgm:prSet>
      <dgm:spPr/>
    </dgm:pt>
    <dgm:pt modelId="{9BD72E25-D0A1-481B-BF39-E0C079F6BEDE}" type="pres">
      <dgm:prSet presAssocID="{08485DA1-6D5F-40E6-87C2-8BF3E9AD283A}" presName="childText" presStyleLbl="revTx" presStyleIdx="0" presStyleCnt="1">
        <dgm:presLayoutVars>
          <dgm:bulletEnabled val="1"/>
        </dgm:presLayoutVars>
      </dgm:prSet>
      <dgm:spPr/>
    </dgm:pt>
  </dgm:ptLst>
  <dgm:cxnLst>
    <dgm:cxn modelId="{78EA4205-D352-4B2D-9230-760AFD9A2C19}" srcId="{08485DA1-6D5F-40E6-87C2-8BF3E9AD283A}" destId="{C71348AC-E782-433B-9C2D-62F010D66432}" srcOrd="0" destOrd="0" parTransId="{8FE151E3-5221-41D1-AEA1-B521687CD172}" sibTransId="{D01C5ECB-0D35-433B-A017-FC17627F6215}"/>
    <dgm:cxn modelId="{2608E51B-5820-4F46-BBB3-631EE10F0777}" type="presOf" srcId="{C71348AC-E782-433B-9C2D-62F010D66432}" destId="{9BD72E25-D0A1-481B-BF39-E0C079F6BEDE}" srcOrd="0" destOrd="0" presId="urn:microsoft.com/office/officeart/2005/8/layout/vList2"/>
    <dgm:cxn modelId="{71780E1E-66B4-4A21-9D6F-816497D82A79}" type="presOf" srcId="{C64F3800-2951-494B-91D2-E592653C79DB}" destId="{9BD72E25-D0A1-481B-BF39-E0C079F6BEDE}" srcOrd="0" destOrd="1" presId="urn:microsoft.com/office/officeart/2005/8/layout/vList2"/>
    <dgm:cxn modelId="{3A15C371-0564-4382-9D02-EE93362E1E13}" type="presOf" srcId="{151C85D3-6A20-47CA-B031-97CDD495A751}" destId="{2948F9F3-1788-4A18-BD1B-C78B3264F7EE}" srcOrd="0" destOrd="0" presId="urn:microsoft.com/office/officeart/2005/8/layout/vList2"/>
    <dgm:cxn modelId="{F6E8AF55-7E34-47AF-9F82-3F66738DC9C4}" srcId="{08485DA1-6D5F-40E6-87C2-8BF3E9AD283A}" destId="{C64F3800-2951-494B-91D2-E592653C79DB}" srcOrd="1" destOrd="0" parTransId="{1F402493-531B-4EF1-ADE5-47114BE95D4D}" sibTransId="{2BE26EE7-6107-4163-8773-6D96FF8A148F}"/>
    <dgm:cxn modelId="{7E181C94-3210-4404-8278-44991F402467}" srcId="{151C85D3-6A20-47CA-B031-97CDD495A751}" destId="{08485DA1-6D5F-40E6-87C2-8BF3E9AD283A}" srcOrd="0" destOrd="0" parTransId="{8D4E5E3B-AB3A-4BEA-B285-0EF514538464}" sibTransId="{96435E7F-ACE7-406D-B07D-1FFD5BEBE7F0}"/>
    <dgm:cxn modelId="{4774F2A2-A7C9-4797-8D53-6A42E81AED00}" type="presOf" srcId="{08485DA1-6D5F-40E6-87C2-8BF3E9AD283A}" destId="{01F518A2-0655-4B73-97ED-70A15CD1ECAA}" srcOrd="0" destOrd="0" presId="urn:microsoft.com/office/officeart/2005/8/layout/vList2"/>
    <dgm:cxn modelId="{22751389-9580-4364-808D-F57F072B9F07}" type="presParOf" srcId="{2948F9F3-1788-4A18-BD1B-C78B3264F7EE}" destId="{01F518A2-0655-4B73-97ED-70A15CD1ECAA}" srcOrd="0" destOrd="0" presId="urn:microsoft.com/office/officeart/2005/8/layout/vList2"/>
    <dgm:cxn modelId="{721EB751-2D21-4613-AD9C-1590BAE36809}" type="presParOf" srcId="{2948F9F3-1788-4A18-BD1B-C78B3264F7EE}" destId="{9BD72E25-D0A1-481B-BF39-E0C079F6BEDE}" srcOrd="1"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518A2-0655-4B73-97ED-70A15CD1ECAA}">
      <dsp:nvSpPr>
        <dsp:cNvPr id="0" name=""/>
        <dsp:cNvSpPr/>
      </dsp:nvSpPr>
      <dsp:spPr>
        <a:xfrm>
          <a:off x="0" y="154812"/>
          <a:ext cx="6046132" cy="1551420"/>
        </a:xfrm>
        <a:prstGeom prst="round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84000"/>
                <a:lumMod val="84000"/>
              </a:schemeClr>
            </a:gs>
          </a:gsLst>
          <a:lin ang="5400000" scaled="0"/>
        </a:gradFill>
        <a:ln>
          <a:noFill/>
        </a:ln>
        <a:effectLst>
          <a:innerShdw blurRad="50800" dist="25400" dir="13500000">
            <a:srgbClr val="000000">
              <a:alpha val="55000"/>
            </a:srgbClr>
          </a:innerShdw>
        </a:effectLst>
      </dsp:spPr>
      <dsp:style>
        <a:lnRef idx="0">
          <a:scrgbClr r="0" g="0" b="0"/>
        </a:lnRef>
        <a:fillRef idx="3">
          <a:scrgbClr r="0" g="0" b="0"/>
        </a:fillRef>
        <a:effectRef idx="2">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dirty="0"/>
            <a:t>In this presentation, we will discuss:</a:t>
          </a:r>
        </a:p>
      </dsp:txBody>
      <dsp:txXfrm>
        <a:off x="75734" y="230546"/>
        <a:ext cx="5894664" cy="1399952"/>
      </dsp:txXfrm>
    </dsp:sp>
    <dsp:sp modelId="{9BD72E25-D0A1-481B-BF39-E0C079F6BEDE}">
      <dsp:nvSpPr>
        <dsp:cNvPr id="0" name=""/>
        <dsp:cNvSpPr/>
      </dsp:nvSpPr>
      <dsp:spPr>
        <a:xfrm>
          <a:off x="0" y="1706232"/>
          <a:ext cx="6046132" cy="2744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1965" tIns="49530" rIns="277368" bIns="49530" numCol="1" spcCol="1270" anchor="t" anchorCtr="0">
          <a:noAutofit/>
        </a:bodyPr>
        <a:lstStyle/>
        <a:p>
          <a:pPr marL="285750" lvl="1" indent="-285750" algn="l" defTabSz="1333500">
            <a:lnSpc>
              <a:spcPct val="90000"/>
            </a:lnSpc>
            <a:spcBef>
              <a:spcPct val="0"/>
            </a:spcBef>
            <a:spcAft>
              <a:spcPct val="20000"/>
            </a:spcAft>
            <a:buChar char="•"/>
          </a:pPr>
          <a:r>
            <a:rPr lang="en-US" sz="3000" kern="1200"/>
            <a:t>What is Unreal Engine and why should we use it over Unity Game Engine?</a:t>
          </a:r>
        </a:p>
        <a:p>
          <a:pPr marL="285750" lvl="1" indent="-285750" algn="l" defTabSz="1333500">
            <a:lnSpc>
              <a:spcPct val="90000"/>
            </a:lnSpc>
            <a:spcBef>
              <a:spcPct val="0"/>
            </a:spcBef>
            <a:spcAft>
              <a:spcPct val="20000"/>
            </a:spcAft>
            <a:buChar char="•"/>
          </a:pPr>
          <a:r>
            <a:rPr lang="en-US" sz="3000" kern="1200"/>
            <a:t>The benefits of adopting this technology to our company to our future projects. </a:t>
          </a:r>
        </a:p>
      </dsp:txBody>
      <dsp:txXfrm>
        <a:off x="0" y="1706232"/>
        <a:ext cx="6046132" cy="27448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B47060-17B7-495C-9A34-3179164EBB30}"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0BDC1-0720-4530-9BCF-EDEFDA963796}" type="slidenum">
              <a:rPr lang="en-US" smtClean="0"/>
              <a:t>‹#›</a:t>
            </a:fld>
            <a:endParaRPr lang="en-US"/>
          </a:p>
        </p:txBody>
      </p:sp>
    </p:spTree>
    <p:extLst>
      <p:ext uri="{BB962C8B-B14F-4D97-AF65-F5344CB8AC3E}">
        <p14:creationId xmlns:p14="http://schemas.microsoft.com/office/powerpoint/2010/main" val="1956382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panose="020B0604020202020204" pitchFamily="34" charset="0"/>
                <a:cs typeface="Arial" panose="020B0604020202020204" pitchFamily="34" charset="0"/>
              </a:rPr>
              <a:t>Hello everyone, and thank you for taking the time to join me today. I am Sam Zipperer, and as an indie game studio, we have always been player-obsessed. We are constantly striving to deliver the most engaging, high-quality experiences possible to our community. However, to support higher-fidelity releases and streamline how we build our games, I believe it is time for us to evaluate our current workflow and look ahead. Today, I want to talk to you about why transitioning our development pipeline to a new workflow is warranted. In this presentation, we will discuss making the leap to Unreal Engine, a powerful game development platform from Epic Games that will enable our team to tackle more ambitious titles and take our studio to the next level.</a:t>
            </a:r>
          </a:p>
        </p:txBody>
      </p:sp>
      <p:sp>
        <p:nvSpPr>
          <p:cNvPr id="4" name="Slide Number Placeholder 3"/>
          <p:cNvSpPr>
            <a:spLocks noGrp="1"/>
          </p:cNvSpPr>
          <p:nvPr>
            <p:ph type="sldNum" sz="quarter" idx="5"/>
          </p:nvPr>
        </p:nvSpPr>
        <p:spPr/>
        <p:txBody>
          <a:bodyPr/>
          <a:lstStyle/>
          <a:p>
            <a:fld id="{0A60BDC1-0720-4530-9BCF-EDEFDA963796}" type="slidenum">
              <a:rPr lang="en-US" smtClean="0"/>
              <a:t>1</a:t>
            </a:fld>
            <a:endParaRPr lang="en-US"/>
          </a:p>
        </p:txBody>
      </p:sp>
    </p:spTree>
    <p:extLst>
      <p:ext uri="{BB962C8B-B14F-4D97-AF65-F5344CB8AC3E}">
        <p14:creationId xmlns:p14="http://schemas.microsoft.com/office/powerpoint/2010/main" val="115389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panose="020B0604020202020204" pitchFamily="34" charset="0"/>
                <a:cs typeface="Arial" panose="020B0604020202020204" pitchFamily="34" charset="0"/>
              </a:rPr>
              <a:t>Before we dive into the technical details, I will briefly review the agenda for today's presentation. First off, we will cover what Unreal Engine is, how it works under the hood, and outline some of its main features that directly apply to our daily workflow. Second, we will discuss the direct benefits of adopting this technology for our company. I will break down exactly how this shift will impact our software engineers, 3D artists, and gameplay designers, and why moving away from our current Unity engine setup will ultimately give us greater creative freedom and financial stability.</a:t>
            </a:r>
          </a:p>
        </p:txBody>
      </p:sp>
      <p:sp>
        <p:nvSpPr>
          <p:cNvPr id="4" name="Slide Number Placeholder 3"/>
          <p:cNvSpPr>
            <a:spLocks noGrp="1"/>
          </p:cNvSpPr>
          <p:nvPr>
            <p:ph type="sldNum" sz="quarter" idx="5"/>
          </p:nvPr>
        </p:nvSpPr>
        <p:spPr/>
        <p:txBody>
          <a:bodyPr/>
          <a:lstStyle/>
          <a:p>
            <a:fld id="{0A60BDC1-0720-4530-9BCF-EDEFDA963796}" type="slidenum">
              <a:rPr lang="en-US" smtClean="0"/>
              <a:t>2</a:t>
            </a:fld>
            <a:endParaRPr lang="en-US"/>
          </a:p>
        </p:txBody>
      </p:sp>
    </p:spTree>
    <p:extLst>
      <p:ext uri="{BB962C8B-B14F-4D97-AF65-F5344CB8AC3E}">
        <p14:creationId xmlns:p14="http://schemas.microsoft.com/office/powerpoint/2010/main" val="3186970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a:cs typeface="Arial"/>
              </a:rPr>
              <a:t>So, what exactly is Unreal Engine? It is a comprehensive game development platform built for massive, hardware-intensive projects, putting industry-leading photorealism right at our fingertips. Until now, we have used the Unity game engine to build our games, an environment that often required us to manually build, script, and optimize foundational rendering systems from scratch. Moving to Unreal represents a major shift in our day-to-day operations, replacing manual hurdles with out-of-the-box automation. From handling complex visual scripting connections to automatically managing memory and asset scaling, Unreal takes over the heavy computational lifting, allowing our team to build faster and larger than before. How does it work? Under the hood, Unreal Engine utilizes the C++ programming language alongside a highly versatile visual scripting tool called Blueprints. While learning a new workspace and coding language can certainly be daunting, </a:t>
            </a:r>
            <a:r>
              <a:rPr lang="en-US" sz="1400" dirty="0" err="1">
                <a:latin typeface="Arial"/>
                <a:cs typeface="Arial"/>
              </a:rPr>
              <a:t>Unreal's</a:t>
            </a:r>
            <a:r>
              <a:rPr lang="en-US" sz="1400" dirty="0">
                <a:latin typeface="Arial"/>
                <a:cs typeface="Arial"/>
              </a:rPr>
              <a:t> toolset is specifically designed to accelerate our </a:t>
            </a:r>
            <a:r>
              <a:rPr lang="en-US" sz="1400" dirty="0" err="1">
                <a:latin typeface="Arial"/>
                <a:cs typeface="Arial"/>
              </a:rPr>
              <a:t>workflow.Let's</a:t>
            </a:r>
            <a:r>
              <a:rPr lang="en-US" sz="1400" dirty="0">
                <a:latin typeface="Arial"/>
                <a:cs typeface="Arial"/>
              </a:rPr>
              <a:t> take a look at some of the main features. Unreal Engine supports incredibly high-definition graphics, which include next-generation physics, lighting, and visual effects. These capabilities will allow our company to unlock the next level of our evolution. All while dominating cinematic, AAA, and virtual-production work right out of the box. By leveraging the Nanite and Lumen rendering systems, our developers can skip the hours of manual optimization typically required when working in Unity.</a:t>
            </a:r>
          </a:p>
        </p:txBody>
      </p:sp>
      <p:sp>
        <p:nvSpPr>
          <p:cNvPr id="4" name="Slide Number Placeholder 3"/>
          <p:cNvSpPr>
            <a:spLocks noGrp="1"/>
          </p:cNvSpPr>
          <p:nvPr>
            <p:ph type="sldNum" sz="quarter" idx="5"/>
          </p:nvPr>
        </p:nvSpPr>
        <p:spPr/>
        <p:txBody>
          <a:bodyPr/>
          <a:lstStyle/>
          <a:p>
            <a:fld id="{0A60BDC1-0720-4530-9BCF-EDEFDA963796}" type="slidenum">
              <a:rPr lang="en-US" smtClean="0"/>
              <a:t>3</a:t>
            </a:fld>
            <a:endParaRPr lang="en-US"/>
          </a:p>
        </p:txBody>
      </p:sp>
    </p:spTree>
    <p:extLst>
      <p:ext uri="{BB962C8B-B14F-4D97-AF65-F5344CB8AC3E}">
        <p14:creationId xmlns:p14="http://schemas.microsoft.com/office/powerpoint/2010/main" val="2461540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latin typeface="Arial" panose="020B0604020202020204" pitchFamily="34" charset="0"/>
                <a:cs typeface="Arial" panose="020B0604020202020204" pitchFamily="34" charset="0"/>
              </a:rPr>
              <a:t>This leads us to exactly why our studio should fully transition to Unreal Engine for our upcoming projects. Firstly, I want to talk about bridging the gap between design and development. </a:t>
            </a:r>
            <a:r>
              <a:rPr lang="en-US" sz="1400" dirty="0" err="1">
                <a:latin typeface="Arial" panose="020B0604020202020204" pitchFamily="34" charset="0"/>
                <a:cs typeface="Arial" panose="020B0604020202020204" pitchFamily="34" charset="0"/>
              </a:rPr>
              <a:t>Unreal's</a:t>
            </a:r>
            <a:r>
              <a:rPr lang="en-US" sz="1400" dirty="0">
                <a:latin typeface="Arial" panose="020B0604020202020204" pitchFamily="34" charset="0"/>
                <a:cs typeface="Arial" panose="020B0604020202020204" pitchFamily="34" charset="0"/>
              </a:rPr>
              <a:t> Blueprints visual scripting system allows our artists and designers to actively build and test gameplay logic through an intuitive node-based interface, without needing an engineer to hard-code every interaction. Secondly is the highly favorable business model for indie studios like ours. Unreal Engine is completely free to use until a title generates one million dollars in revenue. This means we gain access to industry-leading development tools with zero upfront software costs, which is a massive win for our financial stability. Third, we have to look at scalability and developer control. Comparing Unreal Engine directly to our current Unity workflow reveals stark differences. Building complex systems in Unity, such as expansive open worlds or robust multiplayer networking, often requires our team to rely heavily on third-party plugins or custom architecture. We are not alone in facing this hurdle; the indie studio </a:t>
            </a:r>
            <a:r>
              <a:rPr lang="en-US" sz="1400" dirty="0" err="1">
                <a:latin typeface="Arial" panose="020B0604020202020204" pitchFamily="34" charset="0"/>
                <a:cs typeface="Arial" panose="020B0604020202020204" pitchFamily="34" charset="0"/>
              </a:rPr>
              <a:t>Pocketpair</a:t>
            </a:r>
            <a:r>
              <a:rPr lang="en-US" sz="1400" dirty="0">
                <a:latin typeface="Arial" panose="020B0604020202020204" pitchFamily="34" charset="0"/>
                <a:cs typeface="Arial" panose="020B0604020202020204" pitchFamily="34" charset="0"/>
              </a:rPr>
              <a:t> famously transitioned its massive hit </a:t>
            </a:r>
            <a:r>
              <a:rPr lang="en-US" sz="1400" dirty="0" err="1">
                <a:latin typeface="Arial" panose="020B0604020202020204" pitchFamily="34" charset="0"/>
                <a:cs typeface="Arial" panose="020B0604020202020204" pitchFamily="34" charset="0"/>
              </a:rPr>
              <a:t>Palworld</a:t>
            </a:r>
            <a:r>
              <a:rPr lang="en-US" sz="1400" dirty="0">
                <a:latin typeface="Arial" panose="020B0604020202020204" pitchFamily="34" charset="0"/>
                <a:cs typeface="Arial" panose="020B0604020202020204" pitchFamily="34" charset="0"/>
              </a:rPr>
              <a:t> from Unity to Unreal Engine specifically to handle the game's growing scale and complex multiplayer infrastructure. Finally, Unreal provides unrestricted access to its C++ source code. This allows our engineers to modify the engine itself rather than being locked out by the expensive enterprise paywalls we currently face in Unity. This transparency reduces our dependence on external asset stores and future-proofs our pipeline, clearing away technical roadblocks so our team can build without limits.</a:t>
            </a:r>
          </a:p>
        </p:txBody>
      </p:sp>
      <p:sp>
        <p:nvSpPr>
          <p:cNvPr id="4" name="Slide Number Placeholder 3"/>
          <p:cNvSpPr>
            <a:spLocks noGrp="1"/>
          </p:cNvSpPr>
          <p:nvPr>
            <p:ph type="sldNum" sz="quarter" idx="5"/>
          </p:nvPr>
        </p:nvSpPr>
        <p:spPr/>
        <p:txBody>
          <a:bodyPr/>
          <a:lstStyle/>
          <a:p>
            <a:fld id="{0A60BDC1-0720-4530-9BCF-EDEFDA963796}" type="slidenum">
              <a:rPr lang="en-US" smtClean="0"/>
              <a:t>4</a:t>
            </a:fld>
            <a:endParaRPr lang="en-US"/>
          </a:p>
        </p:txBody>
      </p:sp>
    </p:spTree>
    <p:extLst>
      <p:ext uri="{BB962C8B-B14F-4D97-AF65-F5344CB8AC3E}">
        <p14:creationId xmlns:p14="http://schemas.microsoft.com/office/powerpoint/2010/main" val="600074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Making the leap to Unreal Engine gives our development team exactly what we need to work smarter and build truly incredible games. Embracing this transition means unlocking greater creative freedom while keeping our biggest promise as a player-obsessed team: delivering the absolute best, most engaging experiences possible.</a:t>
            </a:r>
            <a:endParaRPr lang="en-US" sz="1200" dirty="0">
              <a:latin typeface="Arial" panose="020B060402020202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0A60BDC1-0720-4530-9BCF-EDEFDA963796}" type="slidenum">
              <a:rPr lang="en-US" smtClean="0"/>
              <a:t>5</a:t>
            </a:fld>
            <a:endParaRPr lang="en-US"/>
          </a:p>
        </p:txBody>
      </p:sp>
    </p:spTree>
    <p:extLst>
      <p:ext uri="{BB962C8B-B14F-4D97-AF65-F5344CB8AC3E}">
        <p14:creationId xmlns:p14="http://schemas.microsoft.com/office/powerpoint/2010/main" val="22491283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0A60BDC1-0720-4530-9BCF-EDEFDA963796}" type="slidenum">
              <a:rPr lang="en-US" smtClean="0"/>
              <a:t>6</a:t>
            </a:fld>
            <a:endParaRPr lang="en-US"/>
          </a:p>
        </p:txBody>
      </p:sp>
    </p:spTree>
    <p:extLst>
      <p:ext uri="{BB962C8B-B14F-4D97-AF65-F5344CB8AC3E}">
        <p14:creationId xmlns:p14="http://schemas.microsoft.com/office/powerpoint/2010/main" val="1767649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589569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999276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404350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751D31-BB05-4A47-8168-26CFBBBCA28A}"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1184335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0751D31-BB05-4A47-8168-26CFBBBCA28A}"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862783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751D31-BB05-4A47-8168-26CFBBBCA28A}"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181496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751D31-BB05-4A47-8168-26CFBBBCA28A}"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58776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751D31-BB05-4A47-8168-26CFBBBCA28A}"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4204427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10751D31-BB05-4A47-8168-26CFBBBCA28A}" type="datetimeFigureOut">
              <a:rPr lang="en-US" smtClean="0"/>
              <a:t>10/16/2026</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730375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751D31-BB05-4A47-8168-26CFBBBCA28A}"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1704311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18051350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2956409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22789229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147255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3087179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3695425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0751D31-BB05-4A47-8168-26CFBBBCA28A}"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877745-A9BC-4103-9DB0-D203D258EB0F}" type="slidenum">
              <a:rPr lang="en-US" smtClean="0"/>
              <a:t>‹#›</a:t>
            </a:fld>
            <a:endParaRPr lang="en-US"/>
          </a:p>
        </p:txBody>
      </p:sp>
    </p:spTree>
    <p:extLst>
      <p:ext uri="{BB962C8B-B14F-4D97-AF65-F5344CB8AC3E}">
        <p14:creationId xmlns:p14="http://schemas.microsoft.com/office/powerpoint/2010/main" val="3643647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10751D31-BB05-4A47-8168-26CFBBBCA28A}" type="datetimeFigureOut">
              <a:rPr lang="en-US" smtClean="0"/>
              <a:t>10/16/2026</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C877745-A9BC-4103-9DB0-D203D258EB0F}" type="slidenum">
              <a:rPr lang="en-US" smtClean="0"/>
              <a:t>‹#›</a:t>
            </a:fld>
            <a:endParaRPr lang="en-US"/>
          </a:p>
        </p:txBody>
      </p:sp>
    </p:spTree>
    <p:extLst>
      <p:ext uri="{BB962C8B-B14F-4D97-AF65-F5344CB8AC3E}">
        <p14:creationId xmlns:p14="http://schemas.microsoft.com/office/powerpoint/2010/main" val="2741055637"/>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jp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slideLayout" Target="../slideLayouts/slideLayout2.xml"/><Relationship Id="rId7" Type="http://schemas.openxmlformats.org/officeDocument/2006/relationships/diagramLayout" Target="../diagrams/layout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diagramData" Target="../diagrams/data1.xml"/><Relationship Id="rId11" Type="http://schemas.openxmlformats.org/officeDocument/2006/relationships/image" Target="../media/image3.png"/><Relationship Id="rId5" Type="http://schemas.openxmlformats.org/officeDocument/2006/relationships/image" Target="../media/image1.jpeg"/><Relationship Id="rId10" Type="http://schemas.microsoft.com/office/2007/relationships/diagramDrawing" Target="../diagrams/drawing1.xml"/><Relationship Id="rId4" Type="http://schemas.openxmlformats.org/officeDocument/2006/relationships/notesSlide" Target="../notesSlides/notesSlide2.xml"/><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3.png"/><Relationship Id="rId5" Type="http://schemas.openxmlformats.org/officeDocument/2006/relationships/image" Target="../media/image4.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5.jpg"/><Relationship Id="rId5" Type="http://schemas.openxmlformats.org/officeDocument/2006/relationships/image" Target="../media/image1.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3.png"/><Relationship Id="rId5" Type="http://schemas.openxmlformats.org/officeDocument/2006/relationships/image" Target="../media/image6.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hyperlink" Target="https://kevurugames.com/blog/unity-vs-unreal-engine-pros-and-cons/" TargetMode="External"/><Relationship Id="rId3" Type="http://schemas.openxmlformats.org/officeDocument/2006/relationships/hyperlink" Target="https://pixabay.com/illustrations/dynamic-lighting-blade-runner-2049-7490749/" TargetMode="External"/><Relationship Id="rId7" Type="http://schemas.openxmlformats.org/officeDocument/2006/relationships/hyperlink" Target="https://program-ace.com/blog/unity-vs-unrea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dev.epicgames.com/documentation/unreal-engine/world-partition-in-unreal-engine" TargetMode="External"/><Relationship Id="rId5" Type="http://schemas.openxmlformats.org/officeDocument/2006/relationships/hyperlink" Target="https://pixabay.com/photos/battleship-engine-room-historic-war-389274" TargetMode="External"/><Relationship Id="rId4" Type="http://schemas.openxmlformats.org/officeDocument/2006/relationships/hyperlink" Target="https://pixabay.com/illustrations/robot-ai-generated-technology-96127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EB26C8-3077-7484-7A90-6A475EFBF79E}"/>
              </a:ext>
            </a:extLst>
          </p:cNvPr>
          <p:cNvPicPr>
            <a:picLocks noChangeAspect="1"/>
          </p:cNvPicPr>
          <p:nvPr/>
        </p:nvPicPr>
        <p:blipFill>
          <a:blip r:embed="rId6">
            <a:extLst>
              <a:ext uri="{28A0092B-C50C-407E-A947-70E740481C1C}">
                <a14:useLocalDpi xmlns:a14="http://schemas.microsoft.com/office/drawing/2010/main" val="0"/>
              </a:ext>
            </a:extLst>
          </a:blip>
          <a:srcRect t="19409" r="-2" b="14572"/>
          <a:stretch>
            <a:fillRect/>
          </a:stretch>
        </p:blipFill>
        <p:spPr>
          <a:xfrm>
            <a:off x="2721934" y="455288"/>
            <a:ext cx="6748132" cy="2973712"/>
          </a:xfrm>
          <a:prstGeom prst="roundRect">
            <a:avLst>
              <a:gd name="adj" fmla="val 4380"/>
            </a:avLst>
          </a:prstGeom>
          <a:ln w="38100">
            <a:gradFill flip="none" rotWithShape="1">
              <a:gsLst>
                <a:gs pos="0">
                  <a:srgbClr val="363D46"/>
                </a:gs>
                <a:gs pos="100000">
                  <a:srgbClr val="363D46">
                    <a:lumMod val="75000"/>
                  </a:srgbClr>
                </a:gs>
              </a:gsLst>
              <a:lin ang="5400000" scaled="0"/>
              <a:tileRect/>
            </a:gradFill>
          </a:ln>
          <a:effectLst>
            <a:innerShdw blurRad="57150" dist="38100" dir="14460000">
              <a:srgbClr val="000000">
                <a:alpha val="70000"/>
              </a:srgbClr>
            </a:innerShdw>
          </a:effectLst>
        </p:spPr>
      </p:pic>
      <p:sp>
        <p:nvSpPr>
          <p:cNvPr id="4" name="Title 3">
            <a:extLst>
              <a:ext uri="{FF2B5EF4-FFF2-40B4-BE49-F238E27FC236}">
                <a16:creationId xmlns:a16="http://schemas.microsoft.com/office/drawing/2014/main" id="{C1D11A40-6903-8A9B-528B-4B2ED5404D57}"/>
              </a:ext>
            </a:extLst>
          </p:cNvPr>
          <p:cNvSpPr>
            <a:spLocks noGrp="1"/>
          </p:cNvSpPr>
          <p:nvPr>
            <p:ph type="ctrTitle"/>
          </p:nvPr>
        </p:nvSpPr>
        <p:spPr>
          <a:xfrm>
            <a:off x="1751012" y="4103209"/>
            <a:ext cx="8676222" cy="1335959"/>
          </a:xfrm>
        </p:spPr>
        <p:txBody>
          <a:bodyPr>
            <a:normAutofit/>
          </a:bodyPr>
          <a:lstStyle/>
          <a:p>
            <a:pPr>
              <a:lnSpc>
                <a:spcPct val="90000"/>
              </a:lnSpc>
            </a:pPr>
            <a:r>
              <a:rPr lang="en-US" sz="4400" b="1" dirty="0">
                <a:latin typeface="Arial" panose="020B0604020202020204" pitchFamily="34" charset="0"/>
                <a:cs typeface="Arial" panose="020B0604020202020204" pitchFamily="34" charset="0"/>
              </a:rPr>
              <a:t>Transitioning To Unreal Engine</a:t>
            </a:r>
          </a:p>
        </p:txBody>
      </p:sp>
      <p:sp>
        <p:nvSpPr>
          <p:cNvPr id="5" name="Subtitle 4">
            <a:extLst>
              <a:ext uri="{FF2B5EF4-FFF2-40B4-BE49-F238E27FC236}">
                <a16:creationId xmlns:a16="http://schemas.microsoft.com/office/drawing/2014/main" id="{3FCF4303-2229-493E-C492-F2011374C8A2}"/>
              </a:ext>
            </a:extLst>
          </p:cNvPr>
          <p:cNvSpPr>
            <a:spLocks noGrp="1"/>
          </p:cNvSpPr>
          <p:nvPr>
            <p:ph type="subTitle" idx="1"/>
          </p:nvPr>
        </p:nvSpPr>
        <p:spPr>
          <a:xfrm>
            <a:off x="1757889" y="5658637"/>
            <a:ext cx="8676222" cy="682113"/>
          </a:xfrm>
        </p:spPr>
        <p:txBody>
          <a:bodyPr>
            <a:noAutofit/>
          </a:bodyPr>
          <a:lstStyle/>
          <a:p>
            <a:pPr>
              <a:lnSpc>
                <a:spcPct val="90000"/>
              </a:lnSpc>
            </a:pPr>
            <a:r>
              <a:rPr lang="en-US" sz="1200" dirty="0">
                <a:latin typeface="Arial" panose="020B0604020202020204" pitchFamily="34" charset="0"/>
                <a:cs typeface="Arial" panose="020B0604020202020204" pitchFamily="34" charset="0"/>
              </a:rPr>
              <a:t>Samuel Zipperer</a:t>
            </a:r>
          </a:p>
          <a:p>
            <a:pPr>
              <a:lnSpc>
                <a:spcPct val="90000"/>
              </a:lnSpc>
            </a:pPr>
            <a:r>
              <a:rPr lang="en-US" sz="1200" dirty="0">
                <a:latin typeface="Arial" panose="020B0604020202020204" pitchFamily="34" charset="0"/>
                <a:cs typeface="Arial" panose="020B0604020202020204" pitchFamily="34" charset="0"/>
              </a:rPr>
              <a:t>Student ID: 013321099</a:t>
            </a:r>
          </a:p>
          <a:p>
            <a:pPr>
              <a:lnSpc>
                <a:spcPct val="90000"/>
              </a:lnSpc>
            </a:pPr>
            <a:r>
              <a:rPr lang="en-US" sz="1200" dirty="0">
                <a:latin typeface="Arial" panose="020B0604020202020204" pitchFamily="34" charset="0"/>
                <a:cs typeface="Arial" panose="020B0604020202020204" pitchFamily="34" charset="0"/>
              </a:rPr>
              <a:t>D339: Technical Communication (WGM2)</a:t>
            </a:r>
          </a:p>
        </p:txBody>
      </p:sp>
      <p:sp>
        <p:nvSpPr>
          <p:cNvPr id="6" name="TextBox 5">
            <a:extLst>
              <a:ext uri="{FF2B5EF4-FFF2-40B4-BE49-F238E27FC236}">
                <a16:creationId xmlns:a16="http://schemas.microsoft.com/office/drawing/2014/main" id="{56DDE77A-9A81-27CD-8D8F-AE90FA92F208}"/>
              </a:ext>
            </a:extLst>
          </p:cNvPr>
          <p:cNvSpPr txBox="1"/>
          <p:nvPr/>
        </p:nvSpPr>
        <p:spPr>
          <a:xfrm>
            <a:off x="3476231" y="3672714"/>
            <a:ext cx="5493957" cy="369332"/>
          </a:xfrm>
          <a:prstGeom prst="rect">
            <a:avLst/>
          </a:prstGeom>
          <a:noFill/>
        </p:spPr>
        <p:txBody>
          <a:bodyPr wrap="square" rtlCol="0">
            <a:spAutoFit/>
          </a:bodyPr>
          <a:lstStyle/>
          <a:p>
            <a:pPr algn="ctr"/>
            <a:r>
              <a:rPr lang="en-US" dirty="0"/>
              <a:t>(Wellington, 2022)</a:t>
            </a:r>
          </a:p>
        </p:txBody>
      </p:sp>
      <p:pic>
        <p:nvPicPr>
          <p:cNvPr id="29" name="Audio 28">
            <a:hlinkClick r:id="" action="ppaction://media"/>
            <a:extLst>
              <a:ext uri="{FF2B5EF4-FFF2-40B4-BE49-F238E27FC236}">
                <a16:creationId xmlns:a16="http://schemas.microsoft.com/office/drawing/2014/main" id="{FA00981B-5987-E8A5-4EFD-56D8D4E2B02D}"/>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623649175"/>
      </p:ext>
    </p:extLst>
  </p:cSld>
  <p:clrMapOvr>
    <a:masterClrMapping/>
  </p:clrMapOvr>
  <mc:AlternateContent xmlns:mc="http://schemas.openxmlformats.org/markup-compatibility/2006">
    <mc:Choice xmlns:p14="http://schemas.microsoft.com/office/powerpoint/2010/main" Requires="p14">
      <p:transition spd="slow" p14:dur="2000" advTm="42849"/>
    </mc:Choice>
    <mc:Fallback>
      <p:transition spd="slow" advTm="428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C090-953E-E9AE-DA87-43C11D7E6DD6}"/>
              </a:ext>
            </a:extLst>
          </p:cNvPr>
          <p:cNvSpPr>
            <a:spLocks noGrp="1"/>
          </p:cNvSpPr>
          <p:nvPr>
            <p:ph type="title"/>
          </p:nvPr>
        </p:nvSpPr>
        <p:spPr>
          <a:xfrm>
            <a:off x="669851" y="1430179"/>
            <a:ext cx="3029313" cy="3675908"/>
          </a:xfrm>
        </p:spPr>
        <p:txBody>
          <a:bodyPr anchor="ctr">
            <a:normAutofit/>
          </a:bodyPr>
          <a:lstStyle/>
          <a:p>
            <a:r>
              <a:rPr lang="en-US" sz="4000" b="1">
                <a:latin typeface="Arial" panose="020B0604020202020204" pitchFamily="34" charset="0"/>
                <a:cs typeface="Arial" panose="020B0604020202020204" pitchFamily="34" charset="0"/>
              </a:rPr>
              <a:t>Agenda</a:t>
            </a:r>
          </a:p>
        </p:txBody>
      </p:sp>
      <p:sp>
        <p:nvSpPr>
          <p:cNvPr id="9" name="Rectangle 8">
            <a:extLst>
              <a:ext uri="{FF2B5EF4-FFF2-40B4-BE49-F238E27FC236}">
                <a16:creationId xmlns:a16="http://schemas.microsoft.com/office/drawing/2014/main" id="{7E475056-B0EB-44BE-8568-61ABEFB2E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4" y="0"/>
            <a:ext cx="8132066" cy="6858000"/>
          </a:xfrm>
          <a:prstGeom prst="rect">
            <a:avLst/>
          </a:prstGeom>
          <a:solidFill>
            <a:schemeClr val="bg2"/>
          </a:solidFill>
          <a:ln>
            <a:noFill/>
          </a:ln>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2C8E2EC-73A4-48C2-B4D7-D7726BD908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9971" y="0"/>
            <a:ext cx="0" cy="6858000"/>
          </a:xfrm>
          <a:prstGeom prst="line">
            <a:avLst/>
          </a:prstGeom>
          <a:solidFill>
            <a:srgbClr val="FFFFFF"/>
          </a:solidFill>
          <a:ln w="38100" cap="flat">
            <a:gradFill flip="none" rotWithShape="1">
              <a:gsLst>
                <a:gs pos="0">
                  <a:srgbClr val="363D46"/>
                </a:gs>
                <a:gs pos="100000">
                  <a:srgbClr val="363D46">
                    <a:lumMod val="75000"/>
                  </a:srgbClr>
                </a:gs>
              </a:gsLst>
              <a:lin ang="5400000" scaled="0"/>
              <a:tileRect/>
            </a:gradFill>
            <a:miter lim="800000"/>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cxnSp>
      <p:sp>
        <p:nvSpPr>
          <p:cNvPr id="13" name="Rectangle 12">
            <a:extLst>
              <a:ext uri="{FF2B5EF4-FFF2-40B4-BE49-F238E27FC236}">
                <a16:creationId xmlns:a16="http://schemas.microsoft.com/office/drawing/2014/main" id="{E82ABBDC-7A44-4AE8-A04F-B5495481B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94952" y="3195797"/>
            <a:ext cx="6858000" cy="466406"/>
          </a:xfrm>
          <a:prstGeom prst="rect">
            <a:avLst/>
          </a:prstGeom>
          <a:gradFill>
            <a:gsLst>
              <a:gs pos="0">
                <a:srgbClr val="363D46">
                  <a:alpha val="0"/>
                </a:srgbClr>
              </a:gs>
              <a:gs pos="100000">
                <a:srgbClr val="363D46">
                  <a:lumMod val="75000"/>
                </a:srgbClr>
              </a:gs>
            </a:gsLst>
            <a:lin ang="54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aphicFrame>
        <p:nvGraphicFramePr>
          <p:cNvPr id="5" name="Content Placeholder 2">
            <a:extLst>
              <a:ext uri="{FF2B5EF4-FFF2-40B4-BE49-F238E27FC236}">
                <a16:creationId xmlns:a16="http://schemas.microsoft.com/office/drawing/2014/main" id="{9A79D19D-C857-E128-1966-7847EC8CB998}"/>
              </a:ext>
            </a:extLst>
          </p:cNvPr>
          <p:cNvGraphicFramePr>
            <a:graphicFrameLocks noGrp="1"/>
          </p:cNvGraphicFramePr>
          <p:nvPr>
            <p:ph idx="1"/>
            <p:extLst>
              <p:ext uri="{D42A27DB-BD31-4B8C-83A1-F6EECF244321}">
                <p14:modId xmlns:p14="http://schemas.microsoft.com/office/powerpoint/2010/main" val="370108917"/>
              </p:ext>
            </p:extLst>
          </p:nvPr>
        </p:nvGraphicFramePr>
        <p:xfrm>
          <a:off x="5054375" y="965200"/>
          <a:ext cx="6046133" cy="460586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19" name="Audio 18">
            <a:hlinkClick r:id="" action="ppaction://media"/>
            <a:extLst>
              <a:ext uri="{FF2B5EF4-FFF2-40B4-BE49-F238E27FC236}">
                <a16:creationId xmlns:a16="http://schemas.microsoft.com/office/drawing/2014/main" id="{2F184A2A-D730-57F7-2109-CC2A8D4A8AF7}"/>
              </a:ext>
            </a:extLst>
          </p:cNvPr>
          <p:cNvPicPr>
            <a:picLocks noChangeAspect="1"/>
          </p:cNvPicPr>
          <p:nvPr>
            <a:audioFile r:link="rId2"/>
            <p:extLst>
              <p:ext uri="{DAA4B4D4-6D71-4841-9C94-3DE7FCFB9230}">
                <p14:media xmlns:p14="http://schemas.microsoft.com/office/powerpoint/2010/main" r:embed="rId1"/>
              </p:ext>
            </p:extLst>
          </p:nvPr>
        </p:nvPicPr>
        <p:blipFill>
          <a:blip r:embed="rId11"/>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941574183"/>
      </p:ext>
    </p:extLst>
  </p:cSld>
  <p:clrMapOvr>
    <a:masterClrMapping/>
  </p:clrMapOvr>
  <mc:AlternateContent xmlns:mc="http://schemas.openxmlformats.org/markup-compatibility/2006">
    <mc:Choice xmlns:p14="http://schemas.microsoft.com/office/powerpoint/2010/main" Requires="p14">
      <p:transition spd="slow" p14:dur="2000" advTm="32694"/>
    </mc:Choice>
    <mc:Fallback>
      <p:transition spd="slow" advTm="326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01DF-7603-2126-1D45-FA1905FCCC8C}"/>
              </a:ext>
            </a:extLst>
          </p:cNvPr>
          <p:cNvSpPr>
            <a:spLocks noGrp="1"/>
          </p:cNvSpPr>
          <p:nvPr>
            <p:ph type="title"/>
          </p:nvPr>
        </p:nvSpPr>
        <p:spPr>
          <a:xfrm>
            <a:off x="696687" y="365125"/>
            <a:ext cx="10907484" cy="1325563"/>
          </a:xfrm>
        </p:spPr>
        <p:txBody>
          <a:bodyPr/>
          <a:lstStyle/>
          <a:p>
            <a:r>
              <a:rPr lang="en-US" b="1" dirty="0">
                <a:latin typeface="Arial" panose="020B0604020202020204" pitchFamily="34" charset="0"/>
                <a:cs typeface="Arial" panose="020B0604020202020204" pitchFamily="34" charset="0"/>
              </a:rPr>
              <a:t>What is the Technology (or practice/process)?</a:t>
            </a:r>
          </a:p>
        </p:txBody>
      </p:sp>
      <p:sp>
        <p:nvSpPr>
          <p:cNvPr id="3" name="Content Placeholder 2">
            <a:extLst>
              <a:ext uri="{FF2B5EF4-FFF2-40B4-BE49-F238E27FC236}">
                <a16:creationId xmlns:a16="http://schemas.microsoft.com/office/drawing/2014/main" id="{1F03C42C-4167-82EB-72C0-CCEB8D6D63EF}"/>
              </a:ext>
            </a:extLst>
          </p:cNvPr>
          <p:cNvSpPr>
            <a:spLocks noGrp="1"/>
          </p:cNvSpPr>
          <p:nvPr>
            <p:ph idx="1"/>
          </p:nvPr>
        </p:nvSpPr>
        <p:spPr>
          <a:xfrm>
            <a:off x="536549" y="1949713"/>
            <a:ext cx="7223507" cy="3884312"/>
          </a:xfrm>
        </p:spPr>
        <p:txBody>
          <a:bodyPr>
            <a:normAutofit fontScale="92500" lnSpcReduction="20000"/>
          </a:bodyPr>
          <a:lstStyle/>
          <a:p>
            <a:pPr lvl="0"/>
            <a:r>
              <a:rPr lang="en-US" b="1" dirty="0">
                <a:effectLst/>
              </a:rPr>
              <a:t>What is it?</a:t>
            </a:r>
            <a:r>
              <a:rPr lang="en-US" dirty="0">
                <a:effectLst/>
              </a:rPr>
              <a:t> Unreal Engine is a game development platform created by Epic Games that supports the creation of high-fidelity, ambitious titles. </a:t>
            </a:r>
          </a:p>
          <a:p>
            <a:pPr lvl="0"/>
            <a:r>
              <a:rPr lang="en-US" b="1" dirty="0">
                <a:effectLst/>
              </a:rPr>
              <a:t>How does it work?</a:t>
            </a:r>
            <a:r>
              <a:rPr lang="en-US" dirty="0">
                <a:effectLst/>
              </a:rPr>
              <a:t> The engine operates using C++ combined with a highly versatile visual scripting tool known as Blueprints (Bogner, 2025). </a:t>
            </a:r>
          </a:p>
          <a:p>
            <a:pPr lvl="0"/>
            <a:r>
              <a:rPr lang="en-US" b="1" dirty="0">
                <a:effectLst/>
              </a:rPr>
              <a:t>Features of the technology include:</a:t>
            </a:r>
            <a:endParaRPr lang="en-US" dirty="0">
              <a:effectLst/>
            </a:endParaRPr>
          </a:p>
          <a:p>
            <a:pPr lvl="1"/>
            <a:r>
              <a:rPr lang="en-US" dirty="0">
                <a:effectLst/>
              </a:rPr>
              <a:t>Industry-leading photorealism featuring next-gen physics, lighting, and visual effects (</a:t>
            </a:r>
            <a:r>
              <a:rPr lang="en-US" dirty="0" err="1">
                <a:effectLst/>
              </a:rPr>
              <a:t>Mozolevska</a:t>
            </a:r>
            <a:r>
              <a:rPr lang="en-US" dirty="0">
                <a:effectLst/>
              </a:rPr>
              <a:t>, 2026). </a:t>
            </a:r>
          </a:p>
          <a:p>
            <a:pPr lvl="1"/>
            <a:r>
              <a:rPr lang="en-US" dirty="0">
                <a:effectLst/>
              </a:rPr>
              <a:t>Nanite and Lumen rendering capabilities that provide out-of-the-box optimization (</a:t>
            </a:r>
            <a:r>
              <a:rPr lang="en-US" dirty="0" err="1">
                <a:effectLst/>
              </a:rPr>
              <a:t>Fonarov</a:t>
            </a:r>
            <a:r>
              <a:rPr lang="en-US" dirty="0">
                <a:effectLst/>
              </a:rPr>
              <a:t>, 2026). </a:t>
            </a:r>
          </a:p>
          <a:p>
            <a:pPr lvl="1"/>
            <a:r>
              <a:rPr lang="en-US" dirty="0">
                <a:effectLst/>
              </a:rPr>
              <a:t>Native advanced tools, such as the World Partition system, which handles massive open-world environments effortlessly.</a:t>
            </a:r>
          </a:p>
        </p:txBody>
      </p:sp>
      <p:pic>
        <p:nvPicPr>
          <p:cNvPr id="7" name="Picture 6">
            <a:extLst>
              <a:ext uri="{FF2B5EF4-FFF2-40B4-BE49-F238E27FC236}">
                <a16:creationId xmlns:a16="http://schemas.microsoft.com/office/drawing/2014/main" id="{82DB3B10-BE70-1620-73DE-BB9C3AA460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05921" y="1205345"/>
            <a:ext cx="3557847" cy="4447309"/>
          </a:xfrm>
          <a:prstGeom prst="rect">
            <a:avLst/>
          </a:prstGeom>
        </p:spPr>
      </p:pic>
      <p:sp>
        <p:nvSpPr>
          <p:cNvPr id="8" name="TextBox 7">
            <a:extLst>
              <a:ext uri="{FF2B5EF4-FFF2-40B4-BE49-F238E27FC236}">
                <a16:creationId xmlns:a16="http://schemas.microsoft.com/office/drawing/2014/main" id="{61E7805A-9CEB-D656-BE5C-0C53A1FA9256}"/>
              </a:ext>
            </a:extLst>
          </p:cNvPr>
          <p:cNvSpPr txBox="1"/>
          <p:nvPr/>
        </p:nvSpPr>
        <p:spPr>
          <a:xfrm>
            <a:off x="9287583" y="5834024"/>
            <a:ext cx="1889257" cy="369332"/>
          </a:xfrm>
          <a:prstGeom prst="rect">
            <a:avLst/>
          </a:prstGeom>
          <a:noFill/>
        </p:spPr>
        <p:txBody>
          <a:bodyPr wrap="square" rtlCol="0">
            <a:spAutoFit/>
          </a:bodyPr>
          <a:lstStyle/>
          <a:p>
            <a:r>
              <a:rPr lang="en-US" dirty="0"/>
              <a:t>(Garner, 2025)</a:t>
            </a:r>
          </a:p>
        </p:txBody>
      </p:sp>
      <p:pic>
        <p:nvPicPr>
          <p:cNvPr id="37" name="Audio 36">
            <a:hlinkClick r:id="" action="ppaction://media"/>
            <a:extLst>
              <a:ext uri="{FF2B5EF4-FFF2-40B4-BE49-F238E27FC236}">
                <a16:creationId xmlns:a16="http://schemas.microsoft.com/office/drawing/2014/main" id="{5D1D157A-F513-DFDF-24C9-FCE76910799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14086812"/>
      </p:ext>
    </p:extLst>
  </p:cSld>
  <p:clrMapOvr>
    <a:masterClrMapping/>
  </p:clrMapOvr>
  <mc:AlternateContent xmlns:mc="http://schemas.openxmlformats.org/markup-compatibility/2006">
    <mc:Choice xmlns:p14="http://schemas.microsoft.com/office/powerpoint/2010/main" Requires="p14">
      <p:transition spd="slow" p14:dur="2000" advTm="95749"/>
    </mc:Choice>
    <mc:Fallback>
      <p:transition spd="slow" advTm="957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06923-6E0D-8318-FBE4-CAF1F520FAFE}"/>
              </a:ext>
            </a:extLst>
          </p:cNvPr>
          <p:cNvSpPr>
            <a:spLocks noGrp="1"/>
          </p:cNvSpPr>
          <p:nvPr>
            <p:ph type="title"/>
          </p:nvPr>
        </p:nvSpPr>
        <p:spPr>
          <a:xfrm>
            <a:off x="6420465" y="609600"/>
            <a:ext cx="5122606" cy="1905000"/>
          </a:xfrm>
        </p:spPr>
        <p:txBody>
          <a:bodyPr>
            <a:normAutofit/>
          </a:bodyPr>
          <a:lstStyle/>
          <a:p>
            <a:r>
              <a:rPr lang="en-US" b="1" dirty="0">
                <a:latin typeface="Arial" panose="020B0604020202020204" pitchFamily="34" charset="0"/>
                <a:cs typeface="Arial" panose="020B0604020202020204" pitchFamily="34" charset="0"/>
              </a:rPr>
              <a:t>Benefits of the Technology to Our Company </a:t>
            </a:r>
          </a:p>
        </p:txBody>
      </p:sp>
      <p:sp>
        <p:nvSpPr>
          <p:cNvPr id="3" name="Content Placeholder 2">
            <a:extLst>
              <a:ext uri="{FF2B5EF4-FFF2-40B4-BE49-F238E27FC236}">
                <a16:creationId xmlns:a16="http://schemas.microsoft.com/office/drawing/2014/main" id="{FDB9B699-27AD-1B15-94E6-C310248FA7CB}"/>
              </a:ext>
            </a:extLst>
          </p:cNvPr>
          <p:cNvSpPr>
            <a:spLocks noGrp="1"/>
          </p:cNvSpPr>
          <p:nvPr>
            <p:ph idx="1"/>
          </p:nvPr>
        </p:nvSpPr>
        <p:spPr>
          <a:xfrm>
            <a:off x="6420465" y="2666999"/>
            <a:ext cx="5122606" cy="3216276"/>
          </a:xfrm>
        </p:spPr>
        <p:txBody>
          <a:bodyPr>
            <a:normAutofit/>
          </a:bodyPr>
          <a:lstStyle/>
          <a:p>
            <a:pPr lvl="0">
              <a:lnSpc>
                <a:spcPct val="90000"/>
              </a:lnSpc>
            </a:pPr>
            <a:r>
              <a:rPr lang="en-US" sz="1100" b="1" dirty="0">
                <a:effectLst/>
              </a:rPr>
              <a:t>Bridging Design and Development:</a:t>
            </a:r>
            <a:r>
              <a:rPr lang="en-US" sz="1100" dirty="0">
                <a:effectLst/>
              </a:rPr>
              <a:t> </a:t>
            </a:r>
            <a:r>
              <a:rPr lang="en-US" sz="1100" dirty="0" err="1">
                <a:effectLst/>
              </a:rPr>
              <a:t>Unreal's</a:t>
            </a:r>
            <a:r>
              <a:rPr lang="en-US" sz="1100">
                <a:effectLst/>
              </a:rPr>
              <a:t> Blueprints visual scripting system allows our artists and designers to actively build and test gameplay logic through an intuitive node-based interface. </a:t>
            </a:r>
          </a:p>
          <a:p>
            <a:pPr lvl="0">
              <a:lnSpc>
                <a:spcPct val="90000"/>
              </a:lnSpc>
            </a:pPr>
            <a:r>
              <a:rPr lang="en-US" sz="1100" b="1" dirty="0">
                <a:effectLst/>
              </a:rPr>
              <a:t>Highly Accessible Pricing Model:</a:t>
            </a:r>
            <a:r>
              <a:rPr lang="en-US" sz="1100" dirty="0">
                <a:effectLst/>
              </a:rPr>
              <a:t> The engine is completely free to use until a game generates $1 million in revenue, which gives our studio access to premium development tools with zero upfront software costs. </a:t>
            </a:r>
          </a:p>
          <a:p>
            <a:pPr lvl="0">
              <a:lnSpc>
                <a:spcPct val="90000"/>
              </a:lnSpc>
            </a:pPr>
            <a:r>
              <a:rPr lang="en-US" sz="1100" b="1" dirty="0">
                <a:effectLst/>
              </a:rPr>
              <a:t>Scalability and Developer Control:</a:t>
            </a:r>
            <a:r>
              <a:rPr lang="en-US" sz="1100" dirty="0">
                <a:effectLst/>
              </a:rPr>
              <a:t> Transitioning provides us with unrestricted access to the C++ source code, allowing engineers to modify the engine directly instead of facing expensive enterprise paywalls. </a:t>
            </a:r>
          </a:p>
          <a:p>
            <a:pPr lvl="0">
              <a:lnSpc>
                <a:spcPct val="90000"/>
              </a:lnSpc>
            </a:pPr>
            <a:r>
              <a:rPr lang="en-US" sz="1100" b="1" dirty="0">
                <a:effectLst/>
              </a:rPr>
              <a:t>Future-Proofing the Pipeline:</a:t>
            </a:r>
            <a:r>
              <a:rPr lang="en-US" sz="1100" dirty="0">
                <a:effectLst/>
              </a:rPr>
              <a:t> Native multiplayer infrastructure and advanced tools reduce our reliance on third-party plugins and external asset stores, clearing technical roadblocks for complex game development. </a:t>
            </a:r>
          </a:p>
          <a:p>
            <a:pPr>
              <a:lnSpc>
                <a:spcPct val="90000"/>
              </a:lnSpc>
            </a:pPr>
            <a:endParaRPr lang="en-US" sz="1100" dirty="0"/>
          </a:p>
        </p:txBody>
      </p:sp>
      <p:sp>
        <p:nvSpPr>
          <p:cNvPr id="6" name="TextBox 5">
            <a:extLst>
              <a:ext uri="{FF2B5EF4-FFF2-40B4-BE49-F238E27FC236}">
                <a16:creationId xmlns:a16="http://schemas.microsoft.com/office/drawing/2014/main" id="{591256B4-4322-55D7-409B-4346709CE17A}"/>
              </a:ext>
            </a:extLst>
          </p:cNvPr>
          <p:cNvSpPr txBox="1"/>
          <p:nvPr/>
        </p:nvSpPr>
        <p:spPr>
          <a:xfrm>
            <a:off x="2215438" y="5238207"/>
            <a:ext cx="2304892" cy="369332"/>
          </a:xfrm>
          <a:prstGeom prst="rect">
            <a:avLst/>
          </a:prstGeom>
          <a:noFill/>
        </p:spPr>
        <p:txBody>
          <a:bodyPr wrap="square" rtlCol="0">
            <a:spAutoFit/>
          </a:bodyPr>
          <a:lstStyle/>
          <a:p>
            <a:r>
              <a:rPr lang="en-US" dirty="0"/>
              <a:t>(Epic Games, n.d.)</a:t>
            </a:r>
          </a:p>
        </p:txBody>
      </p:sp>
      <p:pic>
        <p:nvPicPr>
          <p:cNvPr id="7" name="Picture 6">
            <a:extLst>
              <a:ext uri="{FF2B5EF4-FFF2-40B4-BE49-F238E27FC236}">
                <a16:creationId xmlns:a16="http://schemas.microsoft.com/office/drawing/2014/main" id="{B621E0BC-9BC0-0FAD-524E-2588E993D4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1812" y="1375379"/>
            <a:ext cx="5612145" cy="3158836"/>
          </a:xfrm>
          <a:prstGeom prst="rect">
            <a:avLst/>
          </a:prstGeom>
        </p:spPr>
      </p:pic>
      <p:pic>
        <p:nvPicPr>
          <p:cNvPr id="59" name="Audio 58">
            <a:hlinkClick r:id="" action="ppaction://media"/>
            <a:extLst>
              <a:ext uri="{FF2B5EF4-FFF2-40B4-BE49-F238E27FC236}">
                <a16:creationId xmlns:a16="http://schemas.microsoft.com/office/drawing/2014/main" id="{33EA8BC8-8E44-F9FC-C45E-96B895491552}"/>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0059861" y="4718304"/>
            <a:ext cx="2057400" cy="2057400"/>
          </a:xfrm>
          <a:prstGeom prst="ellipse">
            <a:avLst/>
          </a:prstGeom>
        </p:spPr>
      </p:pic>
    </p:spTree>
    <p:extLst>
      <p:ext uri="{BB962C8B-B14F-4D97-AF65-F5344CB8AC3E}">
        <p14:creationId xmlns:p14="http://schemas.microsoft.com/office/powerpoint/2010/main" val="666771213"/>
      </p:ext>
    </p:extLst>
  </p:cSld>
  <p:clrMapOvr>
    <a:masterClrMapping/>
  </p:clrMapOvr>
  <mc:AlternateContent xmlns:mc="http://schemas.openxmlformats.org/markup-compatibility/2006">
    <mc:Choice xmlns:p14="http://schemas.microsoft.com/office/powerpoint/2010/main" Requires="p14">
      <p:transition spd="slow" p14:dur="2000" advTm="107925"/>
    </mc:Choice>
    <mc:Fallback>
      <p:transition spd="slow" advTm="1079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9"/>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E8A37-7C6D-2D29-C809-5C42ACC2129A}"/>
              </a:ext>
            </a:extLst>
          </p:cNvPr>
          <p:cNvSpPr>
            <a:spLocks noGrp="1"/>
          </p:cNvSpPr>
          <p:nvPr>
            <p:ph type="title"/>
          </p:nvPr>
        </p:nvSpPr>
        <p:spPr/>
        <p:txBody>
          <a:bodyPr/>
          <a:lstStyle/>
          <a:p>
            <a:r>
              <a:rPr lang="en-US" b="1" dirty="0"/>
              <a:t>Unlock Creative Freedom</a:t>
            </a:r>
          </a:p>
        </p:txBody>
      </p:sp>
      <p:sp>
        <p:nvSpPr>
          <p:cNvPr id="3" name="Content Placeholder 2">
            <a:extLst>
              <a:ext uri="{FF2B5EF4-FFF2-40B4-BE49-F238E27FC236}">
                <a16:creationId xmlns:a16="http://schemas.microsoft.com/office/drawing/2014/main" id="{8430A88D-3F35-9D8A-2131-7FDD86B4800D}"/>
              </a:ext>
            </a:extLst>
          </p:cNvPr>
          <p:cNvSpPr>
            <a:spLocks noGrp="1"/>
          </p:cNvSpPr>
          <p:nvPr>
            <p:ph idx="1"/>
          </p:nvPr>
        </p:nvSpPr>
        <p:spPr>
          <a:xfrm>
            <a:off x="634789" y="2514600"/>
            <a:ext cx="4367961" cy="3124201"/>
          </a:xfrm>
        </p:spPr>
        <p:txBody>
          <a:bodyPr/>
          <a:lstStyle/>
          <a:p>
            <a:r>
              <a:rPr lang="en-US" dirty="0">
                <a:effectLst/>
              </a:rPr>
              <a:t>Work smarter and iterate faster.</a:t>
            </a:r>
          </a:p>
          <a:p>
            <a:r>
              <a:rPr lang="en-US" dirty="0">
                <a:effectLst/>
              </a:rPr>
              <a:t>Build truly incredible games.</a:t>
            </a:r>
          </a:p>
          <a:p>
            <a:r>
              <a:rPr lang="en-US" dirty="0">
                <a:effectLst/>
              </a:rPr>
              <a:t>Deliver the absolute best player experiences. incredible games.</a:t>
            </a:r>
            <a:endParaRPr lang="en-US" dirty="0"/>
          </a:p>
        </p:txBody>
      </p:sp>
      <p:pic>
        <p:nvPicPr>
          <p:cNvPr id="5" name="Picture 4" descr="Abstract motion-blurred lights">
            <a:extLst>
              <a:ext uri="{FF2B5EF4-FFF2-40B4-BE49-F238E27FC236}">
                <a16:creationId xmlns:a16="http://schemas.microsoft.com/office/drawing/2014/main" id="{76B20FDF-6869-A289-339D-E6673AFF61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03034" y="2584502"/>
            <a:ext cx="6255933" cy="2406598"/>
          </a:xfrm>
          <a:prstGeom prst="rect">
            <a:avLst/>
          </a:prstGeom>
        </p:spPr>
      </p:pic>
      <p:sp>
        <p:nvSpPr>
          <p:cNvPr id="6" name="TextBox 5">
            <a:extLst>
              <a:ext uri="{FF2B5EF4-FFF2-40B4-BE49-F238E27FC236}">
                <a16:creationId xmlns:a16="http://schemas.microsoft.com/office/drawing/2014/main" id="{0A74C9AD-3E22-63F8-43E2-2493F6B12847}"/>
              </a:ext>
            </a:extLst>
          </p:cNvPr>
          <p:cNvSpPr txBox="1"/>
          <p:nvPr/>
        </p:nvSpPr>
        <p:spPr>
          <a:xfrm>
            <a:off x="6124349" y="5638801"/>
            <a:ext cx="4413302" cy="369332"/>
          </a:xfrm>
          <a:prstGeom prst="rect">
            <a:avLst/>
          </a:prstGeom>
          <a:noFill/>
        </p:spPr>
        <p:txBody>
          <a:bodyPr wrap="square" rtlCol="0">
            <a:spAutoFit/>
          </a:bodyPr>
          <a:lstStyle/>
          <a:p>
            <a:r>
              <a:rPr lang="en-US" dirty="0"/>
              <a:t>(Image Credit: Microsoft Stock Photo)</a:t>
            </a:r>
          </a:p>
        </p:txBody>
      </p:sp>
      <p:pic>
        <p:nvPicPr>
          <p:cNvPr id="30" name="Audio 29">
            <a:hlinkClick r:id="" action="ppaction://media"/>
            <a:extLst>
              <a:ext uri="{FF2B5EF4-FFF2-40B4-BE49-F238E27FC236}">
                <a16:creationId xmlns:a16="http://schemas.microsoft.com/office/drawing/2014/main" id="{465C355A-8746-5AA9-8EC9-75BBA30FF18B}"/>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967239536"/>
      </p:ext>
    </p:extLst>
  </p:cSld>
  <p:clrMapOvr>
    <a:masterClrMapping/>
  </p:clrMapOvr>
  <mc:AlternateContent xmlns:mc="http://schemas.openxmlformats.org/markup-compatibility/2006">
    <mc:Choice xmlns:p14="http://schemas.microsoft.com/office/powerpoint/2010/main" Requires="p14">
      <p:transition spd="slow" p14:dur="2000" advTm="21945"/>
    </mc:Choice>
    <mc:Fallback>
      <p:transition spd="slow" advTm="219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77F7B-FA20-261E-5CF7-36164C5CC971}"/>
              </a:ext>
            </a:extLst>
          </p:cNvPr>
          <p:cNvSpPr>
            <a:spLocks noGrp="1"/>
          </p:cNvSpPr>
          <p:nvPr>
            <p:ph type="title"/>
          </p:nvPr>
        </p:nvSpPr>
        <p:spPr/>
        <p:txBody>
          <a:bodyPr/>
          <a:lstStyle/>
          <a:p>
            <a:r>
              <a:rPr lang="en-US" b="1" dirty="0">
                <a:latin typeface="Arial" panose="020B0604020202020204" pitchFamily="34" charset="0"/>
                <a:cs typeface="Arial" panose="020B0604020202020204" pitchFamily="34" charset="0"/>
              </a:rPr>
              <a:t>References</a:t>
            </a:r>
          </a:p>
        </p:txBody>
      </p:sp>
      <p:sp>
        <p:nvSpPr>
          <p:cNvPr id="3" name="Content Placeholder 2">
            <a:extLst>
              <a:ext uri="{FF2B5EF4-FFF2-40B4-BE49-F238E27FC236}">
                <a16:creationId xmlns:a16="http://schemas.microsoft.com/office/drawing/2014/main" id="{2AC40100-FBD2-6B0E-B5FB-4B3E8D827146}"/>
              </a:ext>
            </a:extLst>
          </p:cNvPr>
          <p:cNvSpPr>
            <a:spLocks noGrp="1"/>
          </p:cNvSpPr>
          <p:nvPr>
            <p:ph idx="1"/>
          </p:nvPr>
        </p:nvSpPr>
        <p:spPr>
          <a:xfrm>
            <a:off x="838200" y="1690688"/>
            <a:ext cx="10515600" cy="5025797"/>
          </a:xfrm>
        </p:spPr>
        <p:txBody>
          <a:bodyPr>
            <a:normAutofit lnSpcReduction="10000"/>
          </a:bodyPr>
          <a:lstStyle/>
          <a:p>
            <a:pPr fontAlgn="base"/>
            <a:r>
              <a:rPr lang="en-US" dirty="0"/>
              <a:t>Wellington, B. (2022, September 30). </a:t>
            </a:r>
            <a:r>
              <a:rPr lang="en-US" i="1" dirty="0"/>
              <a:t>Dynamic lighting blade runner 2049</a:t>
            </a:r>
            <a:r>
              <a:rPr lang="en-US" dirty="0"/>
              <a:t> [Digital image]. </a:t>
            </a:r>
            <a:r>
              <a:rPr lang="en-US" dirty="0" err="1"/>
              <a:t>Pixabay</a:t>
            </a:r>
            <a:r>
              <a:rPr lang="en-US" dirty="0"/>
              <a:t>. </a:t>
            </a:r>
            <a:r>
              <a:rPr lang="en-US" dirty="0">
                <a:hlinkClick r:id="rId3"/>
              </a:rPr>
              <a:t>https://pixabay.com/illustrations/dynamic-lighting-blade-runner-2049-7490749/</a:t>
            </a:r>
            <a:endParaRPr lang="en-US" dirty="0"/>
          </a:p>
          <a:p>
            <a:pPr fontAlgn="base"/>
            <a:r>
              <a:rPr lang="en-US" dirty="0"/>
              <a:t>Garner, J. (2025, May 22). </a:t>
            </a:r>
            <a:r>
              <a:rPr lang="en-US" i="1" dirty="0"/>
              <a:t>Robot ai generated technology</a:t>
            </a:r>
            <a:r>
              <a:rPr lang="en-US" dirty="0"/>
              <a:t> [Digital image]. </a:t>
            </a:r>
            <a:r>
              <a:rPr lang="en-US" dirty="0" err="1"/>
              <a:t>Pixabay</a:t>
            </a:r>
            <a:r>
              <a:rPr lang="en-US" dirty="0"/>
              <a:t>. </a:t>
            </a:r>
            <a:r>
              <a:rPr lang="en-US" dirty="0">
                <a:hlinkClick r:id="rId4"/>
              </a:rPr>
              <a:t>https://pixabay.com/illustrations/robot-ai-generated-technology-9612727/</a:t>
            </a:r>
            <a:endParaRPr lang="en-US" dirty="0"/>
          </a:p>
          <a:p>
            <a:pPr fontAlgn="base"/>
            <a:r>
              <a:rPr lang="en-US" dirty="0"/>
              <a:t>Butler, G. (2014, July 10). </a:t>
            </a:r>
            <a:r>
              <a:rPr lang="en-US" i="1" dirty="0"/>
              <a:t>Battleship engine room historic war</a:t>
            </a:r>
            <a:r>
              <a:rPr lang="en-US" dirty="0"/>
              <a:t> [Digital image]. </a:t>
            </a:r>
            <a:r>
              <a:rPr lang="en-US" dirty="0" err="1"/>
              <a:t>Pixabay</a:t>
            </a:r>
            <a:r>
              <a:rPr lang="en-US" dirty="0"/>
              <a:t>. </a:t>
            </a:r>
            <a:r>
              <a:rPr lang="en-US" dirty="0">
                <a:hlinkClick r:id="rId5"/>
              </a:rPr>
              <a:t>https://pixabay.com/photos/battleship-engine-room-historic-war-389274</a:t>
            </a:r>
            <a:endParaRPr lang="en-US" dirty="0"/>
          </a:p>
          <a:p>
            <a:pPr lvl="0"/>
            <a:r>
              <a:rPr lang="en-US" dirty="0"/>
              <a:t>Epic Games. (n.d.). </a:t>
            </a:r>
            <a:r>
              <a:rPr lang="en-US" i="1" dirty="0"/>
              <a:t>World partition in Unreal Engine</a:t>
            </a:r>
            <a:r>
              <a:rPr lang="en-US" dirty="0"/>
              <a:t>. Epic Developer Community. Retrieved October 16, 2026, from </a:t>
            </a:r>
            <a:r>
              <a:rPr lang="en-US" dirty="0">
                <a:hlinkClick r:id="rId6"/>
              </a:rPr>
              <a:t>https://dev.epicgames.com/documentation/unreal-engine/world-partition-in-unreal-engine</a:t>
            </a:r>
            <a:endParaRPr lang="en-US" dirty="0"/>
          </a:p>
          <a:p>
            <a:pPr lvl="0"/>
            <a:r>
              <a:rPr lang="en-US" dirty="0" err="1">
                <a:effectLst/>
              </a:rPr>
              <a:t>Fonarov</a:t>
            </a:r>
            <a:r>
              <a:rPr lang="en-US" dirty="0">
                <a:effectLst/>
              </a:rPr>
              <a:t>, O. (2026, July 16). </a:t>
            </a:r>
            <a:r>
              <a:rPr lang="en-US" i="1" dirty="0">
                <a:effectLst/>
              </a:rPr>
              <a:t>Unity vs Unreal Engine: which to choose</a:t>
            </a:r>
            <a:r>
              <a:rPr lang="en-US" dirty="0">
                <a:effectLst/>
              </a:rPr>
              <a:t>. Program-Ace Blog. </a:t>
            </a:r>
            <a:r>
              <a:rPr lang="en-US" u="sng" dirty="0">
                <a:effectLst/>
                <a:hlinkClick r:id="rId7"/>
              </a:rPr>
              <a:t>https://program-ace.com/blog/unity-vs-unreal/</a:t>
            </a:r>
            <a:endParaRPr lang="en-US" dirty="0">
              <a:effectLst/>
            </a:endParaRPr>
          </a:p>
          <a:p>
            <a:pPr lvl="0"/>
            <a:r>
              <a:rPr lang="en-US" dirty="0" err="1">
                <a:effectLst/>
              </a:rPr>
              <a:t>Mozolevska</a:t>
            </a:r>
            <a:r>
              <a:rPr lang="en-US" dirty="0">
                <a:effectLst/>
              </a:rPr>
              <a:t>, V. (2026, June 24). </a:t>
            </a:r>
            <a:r>
              <a:rPr lang="en-US" i="1" dirty="0">
                <a:effectLst/>
              </a:rPr>
              <a:t>Unity vs Unreal Engine: Pros and Cons</a:t>
            </a:r>
            <a:r>
              <a:rPr lang="en-US" dirty="0">
                <a:effectLst/>
              </a:rPr>
              <a:t>. </a:t>
            </a:r>
            <a:r>
              <a:rPr lang="en-US" dirty="0" err="1">
                <a:effectLst/>
              </a:rPr>
              <a:t>Kevuru</a:t>
            </a:r>
            <a:r>
              <a:rPr lang="en-US" dirty="0">
                <a:effectLst/>
              </a:rPr>
              <a:t> Games Blog. </a:t>
            </a:r>
            <a:r>
              <a:rPr lang="en-US" u="sng" dirty="0">
                <a:effectLst/>
                <a:hlinkClick r:id="rId8"/>
              </a:rPr>
              <a:t>https://kevurugames.com/blog/unity-vs-unreal-engine-pros-and-cons/</a:t>
            </a:r>
            <a:endParaRPr lang="en-US" dirty="0">
              <a:effectLst/>
            </a:endParaRPr>
          </a:p>
          <a:p>
            <a:pPr marL="0" indent="0" fontAlgn="base">
              <a:buNone/>
            </a:pPr>
            <a:endParaRPr lang="en-US" dirty="0"/>
          </a:p>
        </p:txBody>
      </p:sp>
    </p:spTree>
    <p:extLst>
      <p:ext uri="{BB962C8B-B14F-4D97-AF65-F5344CB8AC3E}">
        <p14:creationId xmlns:p14="http://schemas.microsoft.com/office/powerpoint/2010/main" val="18155549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BC5002AFCB7E46BAF73E9A815C6C0B" ma:contentTypeVersion="24" ma:contentTypeDescription="Create a new document." ma:contentTypeScope="" ma:versionID="b27c6f58839bfef4bad59f4d0f72ed45">
  <xsd:schema xmlns:xsd="http://www.w3.org/2001/XMLSchema" xmlns:xs="http://www.w3.org/2001/XMLSchema" xmlns:p="http://schemas.microsoft.com/office/2006/metadata/properties" xmlns:ns1="http://schemas.microsoft.com/sharepoint/v3" xmlns:ns2="455c6a40-5156-4ee1-b6e1-75a9942fd30d" xmlns:ns3="5dbce95a-b870-4f3c-86f9-0deb968cc4b5" targetNamespace="http://schemas.microsoft.com/office/2006/metadata/properties" ma:root="true" ma:fieldsID="490fb9eeac8a79c9dd9069dbae148df6" ns1:_="" ns2:_="" ns3:_="">
    <xsd:import namespace="http://schemas.microsoft.com/sharepoint/v3"/>
    <xsd:import namespace="455c6a40-5156-4ee1-b6e1-75a9942fd30d"/>
    <xsd:import namespace="5dbce95a-b870-4f3c-86f9-0deb968cc4b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EventHashCode" minOccurs="0"/>
                <xsd:element ref="ns2:MediaServiceGenerationTime" minOccurs="0"/>
                <xsd:element ref="ns2:MediaServiceAutoTags" minOccurs="0"/>
                <xsd:element ref="ns2:MediaServiceOCR" minOccurs="0"/>
                <xsd:element ref="ns2:MediaServiceDateTaken" minOccurs="0"/>
                <xsd:element ref="ns2:MediaServiceAutoKeyPoints" minOccurs="0"/>
                <xsd:element ref="ns2:MediaServiceKeyPoints" minOccurs="0"/>
                <xsd:element ref="ns2:MediaServiceLocation" minOccurs="0"/>
                <xsd:element ref="ns2:MediaLengthInSeconds" minOccurs="0"/>
                <xsd:element ref="ns1:_ip_UnifiedCompliancePolicyProperties" minOccurs="0"/>
                <xsd:element ref="ns1:_ip_UnifiedCompliancePolicyUIAction" minOccurs="0"/>
                <xsd:element ref="ns3:TaxCatchAll" minOccurs="0"/>
                <xsd:element ref="ns2:lcf76f155ced4ddcb4097134ff3c332f"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5c6a40-5156-4ee1-b6e1-75a9942fd3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acb2b71a-ac8b-4347-9f63-f75d234e2459" ma:termSetId="09814cd3-568e-fe90-9814-8d621ff8fb84" ma:anchorId="fba54fb3-c3e1-fe81-a776-ca4b69148c4d" ma:open="true" ma:isKeyword="false">
      <xsd:complexType>
        <xsd:sequence>
          <xsd:element ref="pc:Terms" minOccurs="0" maxOccurs="1"/>
        </xsd:sequence>
      </xsd:complexType>
    </xsd:element>
    <xsd:element name="Notes" ma:index="26" nillable="true" ma:displayName="Notes "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dbce95a-b870-4f3c-86f9-0deb968cc4b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c2b290c-d895-40c0-8c28-54a180c62a3d}" ma:internalName="TaxCatchAll" ma:showField="CatchAllData" ma:web="5dbce95a-b870-4f3c-86f9-0deb968cc4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dbce95a-b870-4f3c-86f9-0deb968cc4b5" xsi:nil="true"/>
    <_ip_UnifiedCompliancePolicyProperties xmlns="http://schemas.microsoft.com/sharepoint/v3" xsi:nil="true"/>
    <Notes xmlns="455c6a40-5156-4ee1-b6e1-75a9942fd30d" xsi:nil="true"/>
    <lcf76f155ced4ddcb4097134ff3c332f xmlns="455c6a40-5156-4ee1-b6e1-75a9942fd30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E53F204-395E-4F3C-8F80-C0935E99D3F8}">
  <ds:schemaRefs>
    <ds:schemaRef ds:uri="http://schemas.microsoft.com/sharepoint/v3/contenttype/forms"/>
  </ds:schemaRefs>
</ds:datastoreItem>
</file>

<file path=customXml/itemProps2.xml><?xml version="1.0" encoding="utf-8"?>
<ds:datastoreItem xmlns:ds="http://schemas.openxmlformats.org/officeDocument/2006/customXml" ds:itemID="{EB2987D0-E9E6-455C-A68D-89CE1DC5EC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55c6a40-5156-4ee1-b6e1-75a9942fd30d"/>
    <ds:schemaRef ds:uri="5dbce95a-b870-4f3c-86f9-0deb968cc4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50A1619-84E8-46FA-9348-FD4E668A85AF}">
  <ds:schemaRefs>
    <ds:schemaRef ds:uri="http://schemas.microsoft.com/office/2006/metadata/properties"/>
    <ds:schemaRef ds:uri="http://schemas.microsoft.com/office/infopath/2007/PartnerControls"/>
    <ds:schemaRef ds:uri="http://schemas.microsoft.com/sharepoint/v3"/>
    <ds:schemaRef ds:uri="5dbce95a-b870-4f3c-86f9-0deb968cc4b5"/>
    <ds:schemaRef ds:uri="455c6a40-5156-4ee1-b6e1-75a9942fd30d"/>
  </ds:schemaRefs>
</ds:datastoreItem>
</file>

<file path=docProps/app.xml><?xml version="1.0" encoding="utf-8"?>
<Properties xmlns="http://schemas.openxmlformats.org/officeDocument/2006/extended-properties" xmlns:vt="http://schemas.openxmlformats.org/officeDocument/2006/docPropsVTypes">
  <Template>TM03457485[[fn=Mesh]]</Template>
  <TotalTime>540</TotalTime>
  <Words>1385</Words>
  <Application>Microsoft Office PowerPoint</Application>
  <PresentationFormat>Widescreen</PresentationFormat>
  <Paragraphs>46</Paragraphs>
  <Slides>6</Slides>
  <Notes>6</Notes>
  <HiddenSlides>0</HiddenSlides>
  <MMClips>5</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Century Gothic</vt:lpstr>
      <vt:lpstr>Mesh</vt:lpstr>
      <vt:lpstr>Transitioning To Unreal Engine</vt:lpstr>
      <vt:lpstr>Agenda</vt:lpstr>
      <vt:lpstr>What is the Technology (or practice/process)?</vt:lpstr>
      <vt:lpstr>Benefits of the Technology to Our Company </vt:lpstr>
      <vt:lpstr>Unlock Creative Freedom</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D339 Task 2 (WGM2) Template</dc:title>
  <dc:creator>Diana Tucker</dc:creator>
  <cp:lastModifiedBy>Samuel Zipperer</cp:lastModifiedBy>
  <cp:revision>22</cp:revision>
  <dcterms:created xsi:type="dcterms:W3CDTF">2023-03-06T15:14:42Z</dcterms:created>
  <dcterms:modified xsi:type="dcterms:W3CDTF">2026-10-17T01:24:17Z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0x010100ECBC5002AFCB7E46BAF73E9A815C6C0B</vt:lpwstr>
  </property>
  <property fmtid="{D5CDD505-2E9C-101B-9397-08002B2CF9AE}" pid="3" name="MediaServiceImageTags">
    <vt:lpwstr/>
  </property>
</Properties>
</file>