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4" r:id="rId4"/>
  </p:sldMasterIdLst>
  <p:notesMasterIdLst>
    <p:notesMasterId r:id="rId10"/>
  </p:notesMasterIdLst>
  <p:sldIdLst>
    <p:sldId id="257" r:id="rId5"/>
    <p:sldId id="258" r:id="rId6"/>
    <p:sldId id="259" r:id="rId7"/>
    <p:sldId id="260" r:id="rId8"/>
    <p:sldId id="261"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67B814-E6E2-43F0-AA23-12F65BD07238}" v="2" dt="2023-03-20T18:07:39.0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2861" autoAdjust="0"/>
  </p:normalViewPr>
  <p:slideViewPr>
    <p:cSldViewPr snapToGrid="0">
      <p:cViewPr varScale="1">
        <p:scale>
          <a:sx n="127" d="100"/>
          <a:sy n="127" d="100"/>
        </p:scale>
        <p:origin x="1626" y="120"/>
      </p:cViewPr>
      <p:guideLst/>
    </p:cSldViewPr>
  </p:slideViewPr>
  <p:notesTextViewPr>
    <p:cViewPr>
      <p:scale>
        <a:sx n="1" d="1"/>
        <a:sy n="1" d="1"/>
      </p:scale>
      <p:origin x="0" y="0"/>
    </p:cViewPr>
  </p:notesTextViewPr>
  <p:notesViewPr>
    <p:cSldViewPr snapToGrid="0">
      <p:cViewPr>
        <p:scale>
          <a:sx n="100" d="100"/>
          <a:sy n="100" d="100"/>
        </p:scale>
        <p:origin x="1628" y="-96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6"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ye Kagele" userId="S::faye.kagele@wgu.edu::3184576d-6765-4bae-b38c-4a93228472f9" providerId="AD" clId="Web-{491A81AA-DB47-378F-1592-455079E68B07}"/>
    <pc:docChg chg="modSld">
      <pc:chgData name="Faye Kagele" userId="S::faye.kagele@wgu.edu::3184576d-6765-4bae-b38c-4a93228472f9" providerId="AD" clId="Web-{491A81AA-DB47-378F-1592-455079E68B07}" dt="2023-03-20T19:43:57.957" v="28"/>
      <pc:docMkLst>
        <pc:docMk/>
      </pc:docMkLst>
      <pc:sldChg chg="modNotes">
        <pc:chgData name="Faye Kagele" userId="S::faye.kagele@wgu.edu::3184576d-6765-4bae-b38c-4a93228472f9" providerId="AD" clId="Web-{491A81AA-DB47-378F-1592-455079E68B07}" dt="2023-03-20T19:43:57.957" v="28"/>
        <pc:sldMkLst>
          <pc:docMk/>
          <pc:sldMk cId="2814086812" sldId="259"/>
        </pc:sldMkLst>
      </pc:sldChg>
    </pc:docChg>
  </pc:docChgLst>
  <pc:docChgLst>
    <pc:chgData name="Faye Kagele" userId="3184576d-6765-4bae-b38c-4a93228472f9" providerId="ADAL" clId="{65D4FE7D-81F8-4D06-A4CB-B1254836785E}"/>
    <pc:docChg chg="modSld">
      <pc:chgData name="Faye Kagele" userId="3184576d-6765-4bae-b38c-4a93228472f9" providerId="ADAL" clId="{65D4FE7D-81F8-4D06-A4CB-B1254836785E}" dt="2023-03-20T19:24:33.696" v="9" actId="20577"/>
      <pc:docMkLst>
        <pc:docMk/>
      </pc:docMkLst>
      <pc:sldChg chg="modNotesTx">
        <pc:chgData name="Faye Kagele" userId="3184576d-6765-4bae-b38c-4a93228472f9" providerId="ADAL" clId="{65D4FE7D-81F8-4D06-A4CB-B1254836785E}" dt="2023-03-20T19:23:52.831" v="4" actId="20577"/>
        <pc:sldMkLst>
          <pc:docMk/>
          <pc:sldMk cId="666771213" sldId="260"/>
        </pc:sldMkLst>
      </pc:sldChg>
      <pc:sldChg chg="modSp mod">
        <pc:chgData name="Faye Kagele" userId="3184576d-6765-4bae-b38c-4a93228472f9" providerId="ADAL" clId="{65D4FE7D-81F8-4D06-A4CB-B1254836785E}" dt="2023-03-20T19:24:33.696" v="9" actId="20577"/>
        <pc:sldMkLst>
          <pc:docMk/>
          <pc:sldMk cId="1815554972" sldId="261"/>
        </pc:sldMkLst>
        <pc:spChg chg="mod">
          <ac:chgData name="Faye Kagele" userId="3184576d-6765-4bae-b38c-4a93228472f9" providerId="ADAL" clId="{65D4FE7D-81F8-4D06-A4CB-B1254836785E}" dt="2023-03-20T19:24:33.696" v="9" actId="20577"/>
          <ac:spMkLst>
            <pc:docMk/>
            <pc:sldMk cId="1815554972" sldId="261"/>
            <ac:spMk id="3" creationId="{2AC40100-FBD2-6B0E-B5FB-4B3E8D827146}"/>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51C85D3-6A20-47CA-B031-97CDD495A751}"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08485DA1-6D5F-40E6-87C2-8BF3E9AD283A}">
      <dgm:prSet/>
      <dgm:spPr/>
      <dgm:t>
        <a:bodyPr/>
        <a:lstStyle/>
        <a:p>
          <a:r>
            <a:rPr lang="en-US" dirty="0"/>
            <a:t>In this presentation, we will discuss:</a:t>
          </a:r>
        </a:p>
      </dgm:t>
    </dgm:pt>
    <dgm:pt modelId="{8D4E5E3B-AB3A-4BEA-B285-0EF514538464}" type="parTrans" cxnId="{7E181C94-3210-4404-8278-44991F402467}">
      <dgm:prSet/>
      <dgm:spPr/>
      <dgm:t>
        <a:bodyPr/>
        <a:lstStyle/>
        <a:p>
          <a:endParaRPr lang="en-US"/>
        </a:p>
      </dgm:t>
    </dgm:pt>
    <dgm:pt modelId="{96435E7F-ACE7-406D-B07D-1FFD5BEBE7F0}" type="sibTrans" cxnId="{7E181C94-3210-4404-8278-44991F402467}">
      <dgm:prSet/>
      <dgm:spPr/>
      <dgm:t>
        <a:bodyPr/>
        <a:lstStyle/>
        <a:p>
          <a:endParaRPr lang="en-US"/>
        </a:p>
      </dgm:t>
    </dgm:pt>
    <dgm:pt modelId="{C71348AC-E782-433B-9C2D-62F010D66432}">
      <dgm:prSet/>
      <dgm:spPr/>
      <dgm:t>
        <a:bodyPr/>
        <a:lstStyle/>
        <a:p>
          <a:r>
            <a:rPr lang="en-US"/>
            <a:t>What is Unreal Engine and why should we use it over Unity Game Engine?</a:t>
          </a:r>
        </a:p>
      </dgm:t>
    </dgm:pt>
    <dgm:pt modelId="{8FE151E3-5221-41D1-AEA1-B521687CD172}" type="parTrans" cxnId="{78EA4205-D352-4B2D-9230-760AFD9A2C19}">
      <dgm:prSet/>
      <dgm:spPr/>
      <dgm:t>
        <a:bodyPr/>
        <a:lstStyle/>
        <a:p>
          <a:endParaRPr lang="en-US"/>
        </a:p>
      </dgm:t>
    </dgm:pt>
    <dgm:pt modelId="{D01C5ECB-0D35-433B-A017-FC17627F6215}" type="sibTrans" cxnId="{78EA4205-D352-4B2D-9230-760AFD9A2C19}">
      <dgm:prSet/>
      <dgm:spPr/>
      <dgm:t>
        <a:bodyPr/>
        <a:lstStyle/>
        <a:p>
          <a:endParaRPr lang="en-US"/>
        </a:p>
      </dgm:t>
    </dgm:pt>
    <dgm:pt modelId="{C64F3800-2951-494B-91D2-E592653C79DB}">
      <dgm:prSet/>
      <dgm:spPr/>
      <dgm:t>
        <a:bodyPr/>
        <a:lstStyle/>
        <a:p>
          <a:r>
            <a:rPr lang="en-US"/>
            <a:t>The benefits of adopting this technology to our company to our future projects. </a:t>
          </a:r>
        </a:p>
      </dgm:t>
    </dgm:pt>
    <dgm:pt modelId="{1F402493-531B-4EF1-ADE5-47114BE95D4D}" type="parTrans" cxnId="{F6E8AF55-7E34-47AF-9F82-3F66738DC9C4}">
      <dgm:prSet/>
      <dgm:spPr/>
      <dgm:t>
        <a:bodyPr/>
        <a:lstStyle/>
        <a:p>
          <a:endParaRPr lang="en-US"/>
        </a:p>
      </dgm:t>
    </dgm:pt>
    <dgm:pt modelId="{2BE26EE7-6107-4163-8773-6D96FF8A148F}" type="sibTrans" cxnId="{F6E8AF55-7E34-47AF-9F82-3F66738DC9C4}">
      <dgm:prSet/>
      <dgm:spPr/>
      <dgm:t>
        <a:bodyPr/>
        <a:lstStyle/>
        <a:p>
          <a:endParaRPr lang="en-US"/>
        </a:p>
      </dgm:t>
    </dgm:pt>
    <dgm:pt modelId="{2948F9F3-1788-4A18-BD1B-C78B3264F7EE}" type="pres">
      <dgm:prSet presAssocID="{151C85D3-6A20-47CA-B031-97CDD495A751}" presName="linear" presStyleCnt="0">
        <dgm:presLayoutVars>
          <dgm:animLvl val="lvl"/>
          <dgm:resizeHandles val="exact"/>
        </dgm:presLayoutVars>
      </dgm:prSet>
      <dgm:spPr/>
    </dgm:pt>
    <dgm:pt modelId="{01F518A2-0655-4B73-97ED-70A15CD1ECAA}" type="pres">
      <dgm:prSet presAssocID="{08485DA1-6D5F-40E6-87C2-8BF3E9AD283A}" presName="parentText" presStyleLbl="node1" presStyleIdx="0" presStyleCnt="1">
        <dgm:presLayoutVars>
          <dgm:chMax val="0"/>
          <dgm:bulletEnabled val="1"/>
        </dgm:presLayoutVars>
      </dgm:prSet>
      <dgm:spPr/>
    </dgm:pt>
    <dgm:pt modelId="{9BD72E25-D0A1-481B-BF39-E0C079F6BEDE}" type="pres">
      <dgm:prSet presAssocID="{08485DA1-6D5F-40E6-87C2-8BF3E9AD283A}" presName="childText" presStyleLbl="revTx" presStyleIdx="0" presStyleCnt="1">
        <dgm:presLayoutVars>
          <dgm:bulletEnabled val="1"/>
        </dgm:presLayoutVars>
      </dgm:prSet>
      <dgm:spPr/>
    </dgm:pt>
  </dgm:ptLst>
  <dgm:cxnLst>
    <dgm:cxn modelId="{78EA4205-D352-4B2D-9230-760AFD9A2C19}" srcId="{08485DA1-6D5F-40E6-87C2-8BF3E9AD283A}" destId="{C71348AC-E782-433B-9C2D-62F010D66432}" srcOrd="0" destOrd="0" parTransId="{8FE151E3-5221-41D1-AEA1-B521687CD172}" sibTransId="{D01C5ECB-0D35-433B-A017-FC17627F6215}"/>
    <dgm:cxn modelId="{2608E51B-5820-4F46-BBB3-631EE10F0777}" type="presOf" srcId="{C71348AC-E782-433B-9C2D-62F010D66432}" destId="{9BD72E25-D0A1-481B-BF39-E0C079F6BEDE}" srcOrd="0" destOrd="0" presId="urn:microsoft.com/office/officeart/2005/8/layout/vList2"/>
    <dgm:cxn modelId="{71780E1E-66B4-4A21-9D6F-816497D82A79}" type="presOf" srcId="{C64F3800-2951-494B-91D2-E592653C79DB}" destId="{9BD72E25-D0A1-481B-BF39-E0C079F6BEDE}" srcOrd="0" destOrd="1" presId="urn:microsoft.com/office/officeart/2005/8/layout/vList2"/>
    <dgm:cxn modelId="{3A15C371-0564-4382-9D02-EE93362E1E13}" type="presOf" srcId="{151C85D3-6A20-47CA-B031-97CDD495A751}" destId="{2948F9F3-1788-4A18-BD1B-C78B3264F7EE}" srcOrd="0" destOrd="0" presId="urn:microsoft.com/office/officeart/2005/8/layout/vList2"/>
    <dgm:cxn modelId="{F6E8AF55-7E34-47AF-9F82-3F66738DC9C4}" srcId="{08485DA1-6D5F-40E6-87C2-8BF3E9AD283A}" destId="{C64F3800-2951-494B-91D2-E592653C79DB}" srcOrd="1" destOrd="0" parTransId="{1F402493-531B-4EF1-ADE5-47114BE95D4D}" sibTransId="{2BE26EE7-6107-4163-8773-6D96FF8A148F}"/>
    <dgm:cxn modelId="{7E181C94-3210-4404-8278-44991F402467}" srcId="{151C85D3-6A20-47CA-B031-97CDD495A751}" destId="{08485DA1-6D5F-40E6-87C2-8BF3E9AD283A}" srcOrd="0" destOrd="0" parTransId="{8D4E5E3B-AB3A-4BEA-B285-0EF514538464}" sibTransId="{96435E7F-ACE7-406D-B07D-1FFD5BEBE7F0}"/>
    <dgm:cxn modelId="{4774F2A2-A7C9-4797-8D53-6A42E81AED00}" type="presOf" srcId="{08485DA1-6D5F-40E6-87C2-8BF3E9AD283A}" destId="{01F518A2-0655-4B73-97ED-70A15CD1ECAA}" srcOrd="0" destOrd="0" presId="urn:microsoft.com/office/officeart/2005/8/layout/vList2"/>
    <dgm:cxn modelId="{22751389-9580-4364-808D-F57F072B9F07}" type="presParOf" srcId="{2948F9F3-1788-4A18-BD1B-C78B3264F7EE}" destId="{01F518A2-0655-4B73-97ED-70A15CD1ECAA}" srcOrd="0" destOrd="0" presId="urn:microsoft.com/office/officeart/2005/8/layout/vList2"/>
    <dgm:cxn modelId="{721EB751-2D21-4613-AD9C-1590BAE36809}" type="presParOf" srcId="{2948F9F3-1788-4A18-BD1B-C78B3264F7EE}" destId="{9BD72E25-D0A1-481B-BF39-E0C079F6BEDE}" srcOrd="1"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F518A2-0655-4B73-97ED-70A15CD1ECAA}">
      <dsp:nvSpPr>
        <dsp:cNvPr id="0" name=""/>
        <dsp:cNvSpPr/>
      </dsp:nvSpPr>
      <dsp:spPr>
        <a:xfrm>
          <a:off x="0" y="154812"/>
          <a:ext cx="6046132" cy="1551420"/>
        </a:xfrm>
        <a:prstGeom prst="roundRect">
          <a:avLst/>
        </a:prstGeom>
        <a:gradFill rotWithShape="0">
          <a:gsLst>
            <a:gs pos="0">
              <a:schemeClr val="accent2">
                <a:hueOff val="0"/>
                <a:satOff val="0"/>
                <a:lumOff val="0"/>
                <a:alphaOff val="0"/>
                <a:tint val="96000"/>
                <a:lumMod val="104000"/>
              </a:schemeClr>
            </a:gs>
            <a:gs pos="100000">
              <a:schemeClr val="accent2">
                <a:hueOff val="0"/>
                <a:satOff val="0"/>
                <a:lumOff val="0"/>
                <a:alphaOff val="0"/>
                <a:shade val="84000"/>
                <a:lumMod val="84000"/>
              </a:schemeClr>
            </a:gs>
          </a:gsLst>
          <a:lin ang="5400000" scaled="0"/>
        </a:gradFill>
        <a:ln>
          <a:noFill/>
        </a:ln>
        <a:effectLst>
          <a:innerShdw blurRad="50800" dist="25400" dir="13500000">
            <a:srgbClr val="000000">
              <a:alpha val="55000"/>
            </a:srgbClr>
          </a:innerShdw>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l" defTabSz="1733550">
            <a:lnSpc>
              <a:spcPct val="90000"/>
            </a:lnSpc>
            <a:spcBef>
              <a:spcPct val="0"/>
            </a:spcBef>
            <a:spcAft>
              <a:spcPct val="35000"/>
            </a:spcAft>
            <a:buNone/>
          </a:pPr>
          <a:r>
            <a:rPr lang="en-US" sz="3900" kern="1200" dirty="0"/>
            <a:t>In this presentation, we will discuss:</a:t>
          </a:r>
        </a:p>
      </dsp:txBody>
      <dsp:txXfrm>
        <a:off x="75734" y="230546"/>
        <a:ext cx="5894664" cy="1399952"/>
      </dsp:txXfrm>
    </dsp:sp>
    <dsp:sp modelId="{9BD72E25-D0A1-481B-BF39-E0C079F6BEDE}">
      <dsp:nvSpPr>
        <dsp:cNvPr id="0" name=""/>
        <dsp:cNvSpPr/>
      </dsp:nvSpPr>
      <dsp:spPr>
        <a:xfrm>
          <a:off x="0" y="1706232"/>
          <a:ext cx="6046132" cy="27448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1965" tIns="49530" rIns="277368" bIns="49530" numCol="1" spcCol="1270" anchor="t" anchorCtr="0">
          <a:noAutofit/>
        </a:bodyPr>
        <a:lstStyle/>
        <a:p>
          <a:pPr marL="285750" lvl="1" indent="-285750" algn="l" defTabSz="1333500">
            <a:lnSpc>
              <a:spcPct val="90000"/>
            </a:lnSpc>
            <a:spcBef>
              <a:spcPct val="0"/>
            </a:spcBef>
            <a:spcAft>
              <a:spcPct val="20000"/>
            </a:spcAft>
            <a:buChar char="•"/>
          </a:pPr>
          <a:r>
            <a:rPr lang="en-US" sz="3000" kern="1200"/>
            <a:t>What is Unreal Engine and why should we use it over Unity Game Engine?</a:t>
          </a:r>
        </a:p>
        <a:p>
          <a:pPr marL="285750" lvl="1" indent="-285750" algn="l" defTabSz="1333500">
            <a:lnSpc>
              <a:spcPct val="90000"/>
            </a:lnSpc>
            <a:spcBef>
              <a:spcPct val="0"/>
            </a:spcBef>
            <a:spcAft>
              <a:spcPct val="20000"/>
            </a:spcAft>
            <a:buChar char="•"/>
          </a:pPr>
          <a:r>
            <a:rPr lang="en-US" sz="3000" kern="1200"/>
            <a:t>The benefits of adopting this technology to our company to our future projects. </a:t>
          </a:r>
        </a:p>
      </dsp:txBody>
      <dsp:txXfrm>
        <a:off x="0" y="1706232"/>
        <a:ext cx="6046132" cy="274482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B47060-17B7-495C-9A34-3179164EBB30}" type="datetimeFigureOut">
              <a:rPr lang="en-US" smtClean="0"/>
              <a:t>10/12/2026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60BDC1-0720-4530-9BCF-EDEFDA963796}" type="slidenum">
              <a:rPr lang="en-US" smtClean="0"/>
              <a:t>‹#›</a:t>
            </a:fld>
            <a:endParaRPr lang="en-US"/>
          </a:p>
        </p:txBody>
      </p:sp>
    </p:spTree>
    <p:extLst>
      <p:ext uri="{BB962C8B-B14F-4D97-AF65-F5344CB8AC3E}">
        <p14:creationId xmlns:p14="http://schemas.microsoft.com/office/powerpoint/2010/main" val="19563826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dirty="0">
                <a:latin typeface="Arial" panose="020B0604020202020204" pitchFamily="34" charset="0"/>
                <a:cs typeface="Arial" panose="020B0604020202020204" pitchFamily="34" charset="0"/>
              </a:rPr>
              <a:t>Create a title for your presentation that reflects your technology topic. This would be considered Slide #1 of at least 5 slides in your presentation.</a:t>
            </a:r>
          </a:p>
        </p:txBody>
      </p:sp>
      <p:sp>
        <p:nvSpPr>
          <p:cNvPr id="4" name="Slide Number Placeholder 3"/>
          <p:cNvSpPr>
            <a:spLocks noGrp="1"/>
          </p:cNvSpPr>
          <p:nvPr>
            <p:ph type="sldNum" sz="quarter" idx="5"/>
          </p:nvPr>
        </p:nvSpPr>
        <p:spPr/>
        <p:txBody>
          <a:bodyPr/>
          <a:lstStyle/>
          <a:p>
            <a:fld id="{0A60BDC1-0720-4530-9BCF-EDEFDA963796}" type="slidenum">
              <a:rPr lang="en-US" smtClean="0"/>
              <a:t>1</a:t>
            </a:fld>
            <a:endParaRPr lang="en-US"/>
          </a:p>
        </p:txBody>
      </p:sp>
    </p:spTree>
    <p:extLst>
      <p:ext uri="{BB962C8B-B14F-4D97-AF65-F5344CB8AC3E}">
        <p14:creationId xmlns:p14="http://schemas.microsoft.com/office/powerpoint/2010/main" val="11538957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dirty="0">
                <a:latin typeface="Arial" panose="020B0604020202020204" pitchFamily="34" charset="0"/>
                <a:cs typeface="Arial" panose="020B0604020202020204" pitchFamily="34" charset="0"/>
              </a:rPr>
              <a:t>This agenda slide previews the main points to come in the presentation. You must cover the same 2 main points from your blog post in task 1. Feel free to add other main points, but make sure you do include these two main points at least.</a:t>
            </a:r>
          </a:p>
        </p:txBody>
      </p:sp>
      <p:sp>
        <p:nvSpPr>
          <p:cNvPr id="4" name="Slide Number Placeholder 3"/>
          <p:cNvSpPr>
            <a:spLocks noGrp="1"/>
          </p:cNvSpPr>
          <p:nvPr>
            <p:ph type="sldNum" sz="quarter" idx="5"/>
          </p:nvPr>
        </p:nvSpPr>
        <p:spPr/>
        <p:txBody>
          <a:bodyPr/>
          <a:lstStyle/>
          <a:p>
            <a:fld id="{0A60BDC1-0720-4530-9BCF-EDEFDA963796}" type="slidenum">
              <a:rPr lang="en-US" smtClean="0"/>
              <a:t>2</a:t>
            </a:fld>
            <a:endParaRPr lang="en-US"/>
          </a:p>
        </p:txBody>
      </p:sp>
    </p:spTree>
    <p:extLst>
      <p:ext uri="{BB962C8B-B14F-4D97-AF65-F5344CB8AC3E}">
        <p14:creationId xmlns:p14="http://schemas.microsoft.com/office/powerpoint/2010/main" val="31869703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dirty="0">
                <a:latin typeface="Arial"/>
                <a:cs typeface="Arial"/>
              </a:rPr>
              <a:t>These are three possible areas you may cover as you describe what the technology (or technological practice or process) is. These are not required elements. If you spend all time just on what it is, and do not explain how it works, that is fine. If you need more than one slide to cover this main point, that is also fine to do. If you use any source information from the blog post, be sure to cite those sources again here. See the sample Task 2 PowerPoint (available by using the "course search" button on the course </a:t>
            </a:r>
            <a:r>
              <a:rPr lang="en-US" sz="1400">
                <a:latin typeface="Arial"/>
                <a:cs typeface="Arial"/>
              </a:rPr>
              <a:t>home page) for what the source citation and visual images should look like.</a:t>
            </a:r>
          </a:p>
        </p:txBody>
      </p:sp>
      <p:sp>
        <p:nvSpPr>
          <p:cNvPr id="4" name="Slide Number Placeholder 3"/>
          <p:cNvSpPr>
            <a:spLocks noGrp="1"/>
          </p:cNvSpPr>
          <p:nvPr>
            <p:ph type="sldNum" sz="quarter" idx="5"/>
          </p:nvPr>
        </p:nvSpPr>
        <p:spPr/>
        <p:txBody>
          <a:bodyPr/>
          <a:lstStyle/>
          <a:p>
            <a:fld id="{0A60BDC1-0720-4530-9BCF-EDEFDA963796}" type="slidenum">
              <a:rPr lang="en-US" smtClean="0"/>
              <a:t>3</a:t>
            </a:fld>
            <a:endParaRPr lang="en-US"/>
          </a:p>
        </p:txBody>
      </p:sp>
    </p:spTree>
    <p:extLst>
      <p:ext uri="{BB962C8B-B14F-4D97-AF65-F5344CB8AC3E}">
        <p14:creationId xmlns:p14="http://schemas.microsoft.com/office/powerpoint/2010/main" val="24615405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dirty="0">
                <a:latin typeface="Arial" panose="020B0604020202020204" pitchFamily="34" charset="0"/>
                <a:cs typeface="Arial" panose="020B0604020202020204" pitchFamily="34" charset="0"/>
              </a:rPr>
              <a:t>You may use more than one slide to cover these benefits and feel free to add more images. Just remember to cite sources for any image that is not clip art or from the Microsoft PPT stock images. Also, if you cite any sources for the content in this section, be sure to provide both the in-text citation here and the reference list entry on the last slide.</a:t>
            </a:r>
          </a:p>
        </p:txBody>
      </p:sp>
      <p:sp>
        <p:nvSpPr>
          <p:cNvPr id="4" name="Slide Number Placeholder 3"/>
          <p:cNvSpPr>
            <a:spLocks noGrp="1"/>
          </p:cNvSpPr>
          <p:nvPr>
            <p:ph type="sldNum" sz="quarter" idx="5"/>
          </p:nvPr>
        </p:nvSpPr>
        <p:spPr/>
        <p:txBody>
          <a:bodyPr/>
          <a:lstStyle/>
          <a:p>
            <a:fld id="{0A60BDC1-0720-4530-9BCF-EDEFDA963796}" type="slidenum">
              <a:rPr lang="en-US" smtClean="0"/>
              <a:t>4</a:t>
            </a:fld>
            <a:endParaRPr lang="en-US"/>
          </a:p>
        </p:txBody>
      </p:sp>
    </p:spTree>
    <p:extLst>
      <p:ext uri="{BB962C8B-B14F-4D97-AF65-F5344CB8AC3E}">
        <p14:creationId xmlns:p14="http://schemas.microsoft.com/office/powerpoint/2010/main" val="6000740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400" dirty="0">
              <a:latin typeface="Arial" panose="020B0604020202020204" pitchFamily="34" charset="0"/>
              <a:cs typeface="Arial" panose="020B0604020202020204" pitchFamily="34" charset="0"/>
            </a:endParaRPr>
          </a:p>
        </p:txBody>
      </p:sp>
      <p:sp>
        <p:nvSpPr>
          <p:cNvPr id="4" name="Slide Number Placeholder 3"/>
          <p:cNvSpPr>
            <a:spLocks noGrp="1"/>
          </p:cNvSpPr>
          <p:nvPr>
            <p:ph type="sldNum" sz="quarter" idx="5"/>
          </p:nvPr>
        </p:nvSpPr>
        <p:spPr/>
        <p:txBody>
          <a:bodyPr/>
          <a:lstStyle/>
          <a:p>
            <a:fld id="{0A60BDC1-0720-4530-9BCF-EDEFDA963796}" type="slidenum">
              <a:rPr lang="en-US" smtClean="0"/>
              <a:t>5</a:t>
            </a:fld>
            <a:endParaRPr lang="en-US"/>
          </a:p>
        </p:txBody>
      </p:sp>
    </p:spTree>
    <p:extLst>
      <p:ext uri="{BB962C8B-B14F-4D97-AF65-F5344CB8AC3E}">
        <p14:creationId xmlns:p14="http://schemas.microsoft.com/office/powerpoint/2010/main" val="17676491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gradFill flip="none" rotWithShape="1">
                  <a:gsLst>
                    <a:gs pos="0">
                      <a:schemeClr val="tx1"/>
                    </a:gs>
                    <a:gs pos="100000">
                      <a:schemeClr val="tx1">
                        <a:lumMod val="75000"/>
                      </a:schemeClr>
                    </a:gs>
                  </a:gsLst>
                  <a:lin ang="5400000" scaled="0"/>
                  <a:tileRect/>
                </a:gra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0751D31-BB05-4A47-8168-26CFBBBCA28A}"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589569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0751D31-BB05-4A47-8168-26CFBBBCA28A}"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999276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0751D31-BB05-4A47-8168-26CFBBBCA28A}"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40435085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0751D31-BB05-4A47-8168-26CFBBBCA28A}"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1184335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0751D31-BB05-4A47-8168-26CFBBBCA28A}"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38627833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0751D31-BB05-4A47-8168-26CFBBBCA28A}"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1814960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0751D31-BB05-4A47-8168-26CFBBBCA28A}"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587760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0751D31-BB05-4A47-8168-26CFBBBCA28A}"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4204427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399212" y="5883275"/>
            <a:ext cx="914400" cy="365125"/>
          </a:xfrm>
        </p:spPr>
        <p:txBody>
          <a:bodyPr/>
          <a:lstStyle/>
          <a:p>
            <a:fld id="{10751D31-BB05-4A47-8168-26CFBBBCA28A}" type="datetimeFigureOut">
              <a:rPr lang="en-US" smtClean="0"/>
              <a:t>10/12/2026</a:t>
            </a:fld>
            <a:endParaRPr lang="en-US"/>
          </a:p>
        </p:txBody>
      </p:sp>
      <p:sp>
        <p:nvSpPr>
          <p:cNvPr id="6" name="Footer Placeholder 5"/>
          <p:cNvSpPr>
            <a:spLocks noGrp="1"/>
          </p:cNvSpPr>
          <p:nvPr>
            <p:ph type="ftr" sz="quarter" idx="11"/>
          </p:nvPr>
        </p:nvSpPr>
        <p:spPr>
          <a:xfrm>
            <a:off x="1141412" y="5883275"/>
            <a:ext cx="5105400" cy="365125"/>
          </a:xfrm>
        </p:spPr>
        <p:txBody>
          <a:bodyPr/>
          <a:lstStyle/>
          <a:p>
            <a:endParaRPr lang="en-US"/>
          </a:p>
        </p:txBody>
      </p:sp>
      <p:sp>
        <p:nvSpPr>
          <p:cNvPr id="7" name="Slide Number Placeholder 6"/>
          <p:cNvSpPr>
            <a:spLocks noGrp="1"/>
          </p:cNvSpPr>
          <p:nvPr>
            <p:ph type="sldNum" sz="quarter" idx="12"/>
          </p:nvPr>
        </p:nvSpPr>
        <p:spPr>
          <a:xfrm>
            <a:off x="10742612" y="5883275"/>
            <a:ext cx="322567" cy="365125"/>
          </a:xfrm>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37303756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0751D31-BB05-4A47-8168-26CFBBBCA28A}"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1704311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0751D31-BB05-4A47-8168-26CFBBBCA28A}"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18051350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41411" y="4343400"/>
            <a:ext cx="9906000" cy="1447800"/>
          </a:xfrm>
        </p:spPr>
        <p:txBody>
          <a:bodyPr vert="horz" lIns="91440" tIns="45720" rIns="91440" bIns="45720" rtlCol="0" anchor="ctr">
            <a:normAutofit/>
          </a:bodyPr>
          <a:lstStyle>
            <a:lvl1pPr>
              <a:buNone/>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10751D31-BB05-4A47-8168-26CFBBBCA28A}"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29564097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0" y="4777381"/>
            <a:ext cx="9906001" cy="860400"/>
          </a:xfrm>
        </p:spPr>
        <p:txBody>
          <a:bodyPr vert="horz" lIns="91440" tIns="45720" rIns="91440" bIns="45720" rtlCol="0" anchor="t">
            <a:normAutofit/>
          </a:bodyPr>
          <a:lstStyle>
            <a:lvl1pPr>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10751D31-BB05-4A47-8168-26CFBBBCA28A}"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22789229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gradFill flip="none" rotWithShape="1">
                  <a:gsLst>
                    <a:gs pos="0">
                      <a:schemeClr val="tx1"/>
                    </a:gs>
                    <a:gs pos="100000">
                      <a:schemeClr val="tx1">
                        <a:lumMod val="75000"/>
                      </a:schemeClr>
                    </a:gs>
                  </a:gsLst>
                  <a:lin ang="5400000" scaled="0"/>
                  <a:tileRect/>
                </a:gra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0751D31-BB05-4A47-8168-26CFBBBCA28A}"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14725505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0751D31-BB05-4A47-8168-26CFBBBCA28A}"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33087179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0751D31-BB05-4A47-8168-26CFBBBCA28A}"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33695425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0751D31-BB05-4A47-8168-26CFBBBCA28A}"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C877745-A9BC-4103-9DB0-D203D258EB0F}" type="slidenum">
              <a:rPr lang="en-US" smtClean="0"/>
              <a:t>‹#›</a:t>
            </a:fld>
            <a:endParaRPr lang="en-US"/>
          </a:p>
        </p:txBody>
      </p:sp>
    </p:spTree>
    <p:extLst>
      <p:ext uri="{BB962C8B-B14F-4D97-AF65-F5344CB8AC3E}">
        <p14:creationId xmlns:p14="http://schemas.microsoft.com/office/powerpoint/2010/main" val="36436473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10751D31-BB05-4A47-8168-26CFBBBCA28A}" type="datetimeFigureOut">
              <a:rPr lang="en-US" smtClean="0"/>
              <a:t>10/12/2026</a:t>
            </a:fld>
            <a:endParaRPr lang="en-US"/>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en-US"/>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0C877745-A9BC-4103-9DB0-D203D258EB0F}" type="slidenum">
              <a:rPr lang="en-US" smtClean="0"/>
              <a:t>‹#›</a:t>
            </a:fld>
            <a:endParaRPr lang="en-US"/>
          </a:p>
        </p:txBody>
      </p:sp>
    </p:spTree>
    <p:extLst>
      <p:ext uri="{BB962C8B-B14F-4D97-AF65-F5344CB8AC3E}">
        <p14:creationId xmlns:p14="http://schemas.microsoft.com/office/powerpoint/2010/main" val="2741055637"/>
      </p:ext>
    </p:extLst>
  </p:cSld>
  <p:clrMap bg1="dk1" tx1="lt1" bg2="dk2" tx2="lt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 id="2147483731" r:id="rId17"/>
  </p:sldLayoutIdLst>
  <p:txStyles>
    <p:titleStyle>
      <a:lvl1pPr algn="l" defTabSz="457200" rtl="0" eaLnBrk="1" latinLnBrk="0" hangingPunct="1">
        <a:spcBef>
          <a:spcPct val="0"/>
        </a:spcBef>
        <a:buNone/>
        <a:defRPr sz="3200" kern="1200" cap="all">
          <a:ln w="3175" cmpd="sng">
            <a:noFill/>
          </a:ln>
          <a:gradFill flip="none" rotWithShape="1">
            <a:gsLst>
              <a:gs pos="0">
                <a:schemeClr val="tx1"/>
              </a:gs>
              <a:gs pos="100000">
                <a:schemeClr val="tx1">
                  <a:lumMod val="65000"/>
                </a:schemeClr>
              </a:gs>
            </a:gsLst>
            <a:lin ang="558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100000"/>
        <a:buFont typeface="Arial"/>
        <a:buChar char="•"/>
        <a:defRPr sz="20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100000"/>
        <a:buFont typeface="Arial"/>
        <a:buChar char="•"/>
        <a:defRPr sz="18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100000"/>
        <a:buFont typeface="Arial"/>
        <a:buChar char="•"/>
        <a:defRPr sz="16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jpe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5.xml.rels><?xml version="1.0" encoding="UTF-8" standalone="yes"?>
<Relationships xmlns="http://schemas.openxmlformats.org/package/2006/relationships"><Relationship Id="rId8" Type="http://schemas.openxmlformats.org/officeDocument/2006/relationships/hyperlink" Target="https://kevurugames.com/blog/unity-vs-unreal-engine-pros-and-cons/" TargetMode="External"/><Relationship Id="rId3" Type="http://schemas.openxmlformats.org/officeDocument/2006/relationships/hyperlink" Target="https://pixabay.com/illustrations/dynamic-lighting-blade-runner-2049-7490749/" TargetMode="External"/><Relationship Id="rId7" Type="http://schemas.openxmlformats.org/officeDocument/2006/relationships/hyperlink" Target="https://program-ace.com/blog/unity-vs-unreal/"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racerzstudios.medium.com/switching-from-unity-to-unreal-a5ca7476a951" TargetMode="External"/><Relationship Id="rId5" Type="http://schemas.openxmlformats.org/officeDocument/2006/relationships/hyperlink" Target="https://pixabay.com/photos/battleship-engine-room-historic-war-389274" TargetMode="External"/><Relationship Id="rId4" Type="http://schemas.openxmlformats.org/officeDocument/2006/relationships/hyperlink" Target="https://pixabay.com/illustrations/robot-ai-generated-technology-9612727/"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7EB26C8-3077-7484-7A90-6A475EFBF79E}"/>
              </a:ext>
            </a:extLst>
          </p:cNvPr>
          <p:cNvPicPr>
            <a:picLocks noChangeAspect="1"/>
          </p:cNvPicPr>
          <p:nvPr/>
        </p:nvPicPr>
        <p:blipFill>
          <a:blip r:embed="rId4">
            <a:extLst>
              <a:ext uri="{28A0092B-C50C-407E-A947-70E740481C1C}">
                <a14:useLocalDpi xmlns:a14="http://schemas.microsoft.com/office/drawing/2010/main" val="0"/>
              </a:ext>
            </a:extLst>
          </a:blip>
          <a:srcRect t="19409" r="-2" b="14572"/>
          <a:stretch>
            <a:fillRect/>
          </a:stretch>
        </p:blipFill>
        <p:spPr>
          <a:xfrm>
            <a:off x="2721934" y="455288"/>
            <a:ext cx="6748132" cy="2973712"/>
          </a:xfrm>
          <a:prstGeom prst="roundRect">
            <a:avLst>
              <a:gd name="adj" fmla="val 4380"/>
            </a:avLst>
          </a:prstGeom>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pic>
      <p:sp>
        <p:nvSpPr>
          <p:cNvPr id="4" name="Title 3">
            <a:extLst>
              <a:ext uri="{FF2B5EF4-FFF2-40B4-BE49-F238E27FC236}">
                <a16:creationId xmlns:a16="http://schemas.microsoft.com/office/drawing/2014/main" id="{C1D11A40-6903-8A9B-528B-4B2ED5404D57}"/>
              </a:ext>
            </a:extLst>
          </p:cNvPr>
          <p:cNvSpPr>
            <a:spLocks noGrp="1"/>
          </p:cNvSpPr>
          <p:nvPr>
            <p:ph type="ctrTitle"/>
          </p:nvPr>
        </p:nvSpPr>
        <p:spPr>
          <a:xfrm>
            <a:off x="1751012" y="4103209"/>
            <a:ext cx="8676222" cy="1335959"/>
          </a:xfrm>
        </p:spPr>
        <p:txBody>
          <a:bodyPr>
            <a:normAutofit/>
          </a:bodyPr>
          <a:lstStyle/>
          <a:p>
            <a:pPr>
              <a:lnSpc>
                <a:spcPct val="90000"/>
              </a:lnSpc>
            </a:pPr>
            <a:r>
              <a:rPr lang="en-US" sz="4400" b="1" dirty="0">
                <a:latin typeface="Arial" panose="020B0604020202020204" pitchFamily="34" charset="0"/>
                <a:cs typeface="Arial" panose="020B0604020202020204" pitchFamily="34" charset="0"/>
              </a:rPr>
              <a:t>Transitioning To Unreal Engine</a:t>
            </a:r>
          </a:p>
        </p:txBody>
      </p:sp>
      <p:sp>
        <p:nvSpPr>
          <p:cNvPr id="5" name="Subtitle 4">
            <a:extLst>
              <a:ext uri="{FF2B5EF4-FFF2-40B4-BE49-F238E27FC236}">
                <a16:creationId xmlns:a16="http://schemas.microsoft.com/office/drawing/2014/main" id="{3FCF4303-2229-493E-C492-F2011374C8A2}"/>
              </a:ext>
            </a:extLst>
          </p:cNvPr>
          <p:cNvSpPr>
            <a:spLocks noGrp="1"/>
          </p:cNvSpPr>
          <p:nvPr>
            <p:ph type="subTitle" idx="1"/>
          </p:nvPr>
        </p:nvSpPr>
        <p:spPr>
          <a:xfrm>
            <a:off x="1757889" y="5658637"/>
            <a:ext cx="8676222" cy="682113"/>
          </a:xfrm>
        </p:spPr>
        <p:txBody>
          <a:bodyPr>
            <a:noAutofit/>
          </a:bodyPr>
          <a:lstStyle/>
          <a:p>
            <a:pPr>
              <a:lnSpc>
                <a:spcPct val="90000"/>
              </a:lnSpc>
            </a:pPr>
            <a:r>
              <a:rPr lang="en-US" sz="1200" dirty="0">
                <a:latin typeface="Arial" panose="020B0604020202020204" pitchFamily="34" charset="0"/>
                <a:cs typeface="Arial" panose="020B0604020202020204" pitchFamily="34" charset="0"/>
              </a:rPr>
              <a:t>Samuel Zipperer</a:t>
            </a:r>
          </a:p>
          <a:p>
            <a:pPr>
              <a:lnSpc>
                <a:spcPct val="90000"/>
              </a:lnSpc>
            </a:pPr>
            <a:r>
              <a:rPr lang="en-US" sz="1200" dirty="0">
                <a:latin typeface="Arial" panose="020B0604020202020204" pitchFamily="34" charset="0"/>
                <a:cs typeface="Arial" panose="020B0604020202020204" pitchFamily="34" charset="0"/>
              </a:rPr>
              <a:t>Student ID: 013321099</a:t>
            </a:r>
          </a:p>
          <a:p>
            <a:pPr>
              <a:lnSpc>
                <a:spcPct val="90000"/>
              </a:lnSpc>
            </a:pPr>
            <a:r>
              <a:rPr lang="en-US" sz="1200" dirty="0">
                <a:latin typeface="Arial" panose="020B0604020202020204" pitchFamily="34" charset="0"/>
                <a:cs typeface="Arial" panose="020B0604020202020204" pitchFamily="34" charset="0"/>
              </a:rPr>
              <a:t>D339: Technical Communication (WGM2)</a:t>
            </a:r>
          </a:p>
        </p:txBody>
      </p:sp>
      <p:sp>
        <p:nvSpPr>
          <p:cNvPr id="6" name="TextBox 5">
            <a:extLst>
              <a:ext uri="{FF2B5EF4-FFF2-40B4-BE49-F238E27FC236}">
                <a16:creationId xmlns:a16="http://schemas.microsoft.com/office/drawing/2014/main" id="{56DDE77A-9A81-27CD-8D8F-AE90FA92F208}"/>
              </a:ext>
            </a:extLst>
          </p:cNvPr>
          <p:cNvSpPr txBox="1"/>
          <p:nvPr/>
        </p:nvSpPr>
        <p:spPr>
          <a:xfrm>
            <a:off x="3476231" y="3672714"/>
            <a:ext cx="5493957" cy="369332"/>
          </a:xfrm>
          <a:prstGeom prst="rect">
            <a:avLst/>
          </a:prstGeom>
          <a:noFill/>
        </p:spPr>
        <p:txBody>
          <a:bodyPr wrap="square" rtlCol="0">
            <a:spAutoFit/>
          </a:bodyPr>
          <a:lstStyle/>
          <a:p>
            <a:pPr algn="ctr"/>
            <a:r>
              <a:rPr lang="en-US" dirty="0"/>
              <a:t>(Wellington, 2022)</a:t>
            </a:r>
          </a:p>
        </p:txBody>
      </p:sp>
    </p:spTree>
    <p:extLst>
      <p:ext uri="{BB962C8B-B14F-4D97-AF65-F5344CB8AC3E}">
        <p14:creationId xmlns:p14="http://schemas.microsoft.com/office/powerpoint/2010/main" val="26236491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8C090-953E-E9AE-DA87-43C11D7E6DD6}"/>
              </a:ext>
            </a:extLst>
          </p:cNvPr>
          <p:cNvSpPr>
            <a:spLocks noGrp="1"/>
          </p:cNvSpPr>
          <p:nvPr>
            <p:ph type="title"/>
          </p:nvPr>
        </p:nvSpPr>
        <p:spPr>
          <a:xfrm>
            <a:off x="669851" y="1430179"/>
            <a:ext cx="3029313" cy="3675908"/>
          </a:xfrm>
        </p:spPr>
        <p:txBody>
          <a:bodyPr anchor="ctr">
            <a:normAutofit/>
          </a:bodyPr>
          <a:lstStyle/>
          <a:p>
            <a:r>
              <a:rPr lang="en-US" sz="4000" b="1">
                <a:latin typeface="Arial" panose="020B0604020202020204" pitchFamily="34" charset="0"/>
                <a:cs typeface="Arial" panose="020B0604020202020204" pitchFamily="34" charset="0"/>
              </a:rPr>
              <a:t>Agenda</a:t>
            </a:r>
          </a:p>
        </p:txBody>
      </p:sp>
      <p:sp>
        <p:nvSpPr>
          <p:cNvPr id="9" name="Rectangle 8">
            <a:extLst>
              <a:ext uri="{FF2B5EF4-FFF2-40B4-BE49-F238E27FC236}">
                <a16:creationId xmlns:a16="http://schemas.microsoft.com/office/drawing/2014/main" id="{7E475056-B0EB-44BE-8568-61ABEFB2E9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59934" y="0"/>
            <a:ext cx="8132066" cy="6858000"/>
          </a:xfrm>
          <a:prstGeom prst="rect">
            <a:avLst/>
          </a:prstGeom>
          <a:solidFill>
            <a:schemeClr val="bg2"/>
          </a:solidFill>
          <a:ln>
            <a:noFill/>
          </a:ln>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F2C8E2EC-73A4-48C2-B4D7-D7726BD908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69971" y="0"/>
            <a:ext cx="0" cy="6858000"/>
          </a:xfrm>
          <a:prstGeom prst="line">
            <a:avLst/>
          </a:prstGeom>
          <a:solidFill>
            <a:srgbClr val="FFFFFF"/>
          </a:solidFill>
          <a:ln w="38100" cap="flat">
            <a:gradFill flip="none" rotWithShape="1">
              <a:gsLst>
                <a:gs pos="0">
                  <a:srgbClr val="363D46"/>
                </a:gs>
                <a:gs pos="100000">
                  <a:srgbClr val="363D46">
                    <a:lumMod val="75000"/>
                  </a:srgbClr>
                </a:gs>
              </a:gsLst>
              <a:lin ang="5400000" scaled="0"/>
              <a:tileRect/>
            </a:gradFill>
            <a:miter lim="800000"/>
          </a:ln>
          <a:effectLst>
            <a:innerShdw blurRad="57150" dist="38100" dir="14460000">
              <a:srgbClr val="000000">
                <a:alpha val="70000"/>
              </a:srgbClr>
            </a:innerShdw>
          </a:effectLst>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E82ABBDC-7A44-4AE8-A04F-B5495481B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894952" y="3195797"/>
            <a:ext cx="6858000" cy="466406"/>
          </a:xfrm>
          <a:prstGeom prst="rect">
            <a:avLst/>
          </a:prstGeom>
          <a:gradFill>
            <a:gsLst>
              <a:gs pos="0">
                <a:srgbClr val="363D46">
                  <a:alpha val="0"/>
                </a:srgbClr>
              </a:gs>
              <a:gs pos="100000">
                <a:srgbClr val="363D46">
                  <a:lumMod val="75000"/>
                </a:srgbClr>
              </a:gs>
            </a:gsLst>
            <a:lin ang="54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aphicFrame>
        <p:nvGraphicFramePr>
          <p:cNvPr id="5" name="Content Placeholder 2">
            <a:extLst>
              <a:ext uri="{FF2B5EF4-FFF2-40B4-BE49-F238E27FC236}">
                <a16:creationId xmlns:a16="http://schemas.microsoft.com/office/drawing/2014/main" id="{9A79D19D-C857-E128-1966-7847EC8CB998}"/>
              </a:ext>
            </a:extLst>
          </p:cNvPr>
          <p:cNvGraphicFramePr>
            <a:graphicFrameLocks noGrp="1"/>
          </p:cNvGraphicFramePr>
          <p:nvPr>
            <p:ph idx="1"/>
            <p:extLst>
              <p:ext uri="{D42A27DB-BD31-4B8C-83A1-F6EECF244321}">
                <p14:modId xmlns:p14="http://schemas.microsoft.com/office/powerpoint/2010/main" val="370108917"/>
              </p:ext>
            </p:extLst>
          </p:nvPr>
        </p:nvGraphicFramePr>
        <p:xfrm>
          <a:off x="5054375" y="965200"/>
          <a:ext cx="6046133" cy="460586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9415741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101DF-7603-2126-1D45-FA1905FCCC8C}"/>
              </a:ext>
            </a:extLst>
          </p:cNvPr>
          <p:cNvSpPr>
            <a:spLocks noGrp="1"/>
          </p:cNvSpPr>
          <p:nvPr>
            <p:ph type="title"/>
          </p:nvPr>
        </p:nvSpPr>
        <p:spPr>
          <a:xfrm>
            <a:off x="696687" y="365125"/>
            <a:ext cx="10907484" cy="1325563"/>
          </a:xfrm>
        </p:spPr>
        <p:txBody>
          <a:bodyPr/>
          <a:lstStyle/>
          <a:p>
            <a:r>
              <a:rPr lang="en-US" b="1" dirty="0">
                <a:latin typeface="Arial" panose="020B0604020202020204" pitchFamily="34" charset="0"/>
                <a:cs typeface="Arial" panose="020B0604020202020204" pitchFamily="34" charset="0"/>
              </a:rPr>
              <a:t>What is the Technology (or practice/process)?</a:t>
            </a:r>
          </a:p>
        </p:txBody>
      </p:sp>
      <p:sp>
        <p:nvSpPr>
          <p:cNvPr id="3" name="Content Placeholder 2">
            <a:extLst>
              <a:ext uri="{FF2B5EF4-FFF2-40B4-BE49-F238E27FC236}">
                <a16:creationId xmlns:a16="http://schemas.microsoft.com/office/drawing/2014/main" id="{1F03C42C-4167-82EB-72C0-CCEB8D6D63EF}"/>
              </a:ext>
            </a:extLst>
          </p:cNvPr>
          <p:cNvSpPr>
            <a:spLocks noGrp="1"/>
          </p:cNvSpPr>
          <p:nvPr>
            <p:ph idx="1"/>
          </p:nvPr>
        </p:nvSpPr>
        <p:spPr>
          <a:xfrm>
            <a:off x="536549" y="1949713"/>
            <a:ext cx="7223507" cy="3884312"/>
          </a:xfrm>
        </p:spPr>
        <p:txBody>
          <a:bodyPr>
            <a:normAutofit fontScale="92500" lnSpcReduction="20000"/>
          </a:bodyPr>
          <a:lstStyle/>
          <a:p>
            <a:pPr lvl="0"/>
            <a:r>
              <a:rPr lang="en-US" b="1" dirty="0">
                <a:effectLst/>
              </a:rPr>
              <a:t>What is it?</a:t>
            </a:r>
            <a:r>
              <a:rPr lang="en-US" dirty="0">
                <a:effectLst/>
              </a:rPr>
              <a:t> Unreal Engine is a game development platform created by Epic Games that supports the creation of high-fidelity, ambitious titles. </a:t>
            </a:r>
          </a:p>
          <a:p>
            <a:pPr lvl="0"/>
            <a:r>
              <a:rPr lang="en-US" b="1" dirty="0">
                <a:effectLst/>
              </a:rPr>
              <a:t>How does it work?</a:t>
            </a:r>
            <a:r>
              <a:rPr lang="en-US" dirty="0">
                <a:effectLst/>
              </a:rPr>
              <a:t> The engine operates using C++ combined with a highly versatile visual scripting tool known as Blueprints (Bogner, 2025). </a:t>
            </a:r>
          </a:p>
          <a:p>
            <a:pPr lvl="0"/>
            <a:r>
              <a:rPr lang="en-US" b="1" dirty="0">
                <a:effectLst/>
              </a:rPr>
              <a:t>Features of the technology include:</a:t>
            </a:r>
            <a:endParaRPr lang="en-US" dirty="0">
              <a:effectLst/>
            </a:endParaRPr>
          </a:p>
          <a:p>
            <a:pPr lvl="1"/>
            <a:r>
              <a:rPr lang="en-US" dirty="0">
                <a:effectLst/>
              </a:rPr>
              <a:t>Industry-leading photorealism featuring next-gen physics, lighting, and visual effects (</a:t>
            </a:r>
            <a:r>
              <a:rPr lang="en-US" dirty="0" err="1">
                <a:effectLst/>
              </a:rPr>
              <a:t>Mozolevska</a:t>
            </a:r>
            <a:r>
              <a:rPr lang="en-US" dirty="0">
                <a:effectLst/>
              </a:rPr>
              <a:t>, 2026). </a:t>
            </a:r>
          </a:p>
          <a:p>
            <a:pPr lvl="1"/>
            <a:r>
              <a:rPr lang="en-US" dirty="0">
                <a:effectLst/>
              </a:rPr>
              <a:t>Nanite and Lumen rendering capabilities that provide out-of-the-box optimization (</a:t>
            </a:r>
            <a:r>
              <a:rPr lang="en-US" dirty="0" err="1">
                <a:effectLst/>
              </a:rPr>
              <a:t>Fonarov</a:t>
            </a:r>
            <a:r>
              <a:rPr lang="en-US" dirty="0">
                <a:effectLst/>
              </a:rPr>
              <a:t>, 2026). </a:t>
            </a:r>
          </a:p>
          <a:p>
            <a:pPr lvl="1"/>
            <a:r>
              <a:rPr lang="en-US" dirty="0">
                <a:effectLst/>
              </a:rPr>
              <a:t>Native advanced tools, such as the World Partition system, which handles massive open-world environments effortlessly.</a:t>
            </a:r>
          </a:p>
        </p:txBody>
      </p:sp>
      <p:pic>
        <p:nvPicPr>
          <p:cNvPr id="7" name="Picture 6">
            <a:extLst>
              <a:ext uri="{FF2B5EF4-FFF2-40B4-BE49-F238E27FC236}">
                <a16:creationId xmlns:a16="http://schemas.microsoft.com/office/drawing/2014/main" id="{82DB3B10-BE70-1620-73DE-BB9C3AA460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5921" y="1205345"/>
            <a:ext cx="3557847" cy="4447309"/>
          </a:xfrm>
          <a:prstGeom prst="rect">
            <a:avLst/>
          </a:prstGeom>
        </p:spPr>
      </p:pic>
      <p:sp>
        <p:nvSpPr>
          <p:cNvPr id="8" name="TextBox 7">
            <a:extLst>
              <a:ext uri="{FF2B5EF4-FFF2-40B4-BE49-F238E27FC236}">
                <a16:creationId xmlns:a16="http://schemas.microsoft.com/office/drawing/2014/main" id="{61E7805A-9CEB-D656-BE5C-0C53A1FA9256}"/>
              </a:ext>
            </a:extLst>
          </p:cNvPr>
          <p:cNvSpPr txBox="1"/>
          <p:nvPr/>
        </p:nvSpPr>
        <p:spPr>
          <a:xfrm>
            <a:off x="9287583" y="5834024"/>
            <a:ext cx="1889257" cy="369332"/>
          </a:xfrm>
          <a:prstGeom prst="rect">
            <a:avLst/>
          </a:prstGeom>
          <a:noFill/>
        </p:spPr>
        <p:txBody>
          <a:bodyPr wrap="square" rtlCol="0">
            <a:spAutoFit/>
          </a:bodyPr>
          <a:lstStyle/>
          <a:p>
            <a:r>
              <a:rPr lang="en-US" dirty="0"/>
              <a:t>(Garner, 2025)</a:t>
            </a:r>
          </a:p>
        </p:txBody>
      </p:sp>
    </p:spTree>
    <p:extLst>
      <p:ext uri="{BB962C8B-B14F-4D97-AF65-F5344CB8AC3E}">
        <p14:creationId xmlns:p14="http://schemas.microsoft.com/office/powerpoint/2010/main" val="2814086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906923-6E0D-8318-FBE4-CAF1F520FAFE}"/>
              </a:ext>
            </a:extLst>
          </p:cNvPr>
          <p:cNvSpPr>
            <a:spLocks noGrp="1"/>
          </p:cNvSpPr>
          <p:nvPr>
            <p:ph type="title"/>
          </p:nvPr>
        </p:nvSpPr>
        <p:spPr>
          <a:xfrm>
            <a:off x="6420465" y="609600"/>
            <a:ext cx="5122606" cy="1905000"/>
          </a:xfrm>
        </p:spPr>
        <p:txBody>
          <a:bodyPr>
            <a:normAutofit/>
          </a:bodyPr>
          <a:lstStyle/>
          <a:p>
            <a:r>
              <a:rPr lang="en-US" b="1" dirty="0">
                <a:latin typeface="Arial" panose="020B0604020202020204" pitchFamily="34" charset="0"/>
                <a:cs typeface="Arial" panose="020B0604020202020204" pitchFamily="34" charset="0"/>
              </a:rPr>
              <a:t>Benefits of the Technology to Our Company </a:t>
            </a:r>
          </a:p>
        </p:txBody>
      </p:sp>
      <p:sp>
        <p:nvSpPr>
          <p:cNvPr id="3" name="Content Placeholder 2">
            <a:extLst>
              <a:ext uri="{FF2B5EF4-FFF2-40B4-BE49-F238E27FC236}">
                <a16:creationId xmlns:a16="http://schemas.microsoft.com/office/drawing/2014/main" id="{FDB9B699-27AD-1B15-94E6-C310248FA7CB}"/>
              </a:ext>
            </a:extLst>
          </p:cNvPr>
          <p:cNvSpPr>
            <a:spLocks noGrp="1"/>
          </p:cNvSpPr>
          <p:nvPr>
            <p:ph idx="1"/>
          </p:nvPr>
        </p:nvSpPr>
        <p:spPr>
          <a:xfrm>
            <a:off x="6420465" y="2666999"/>
            <a:ext cx="5122606" cy="3216276"/>
          </a:xfrm>
        </p:spPr>
        <p:txBody>
          <a:bodyPr>
            <a:normAutofit/>
          </a:bodyPr>
          <a:lstStyle/>
          <a:p>
            <a:pPr lvl="0">
              <a:lnSpc>
                <a:spcPct val="90000"/>
              </a:lnSpc>
            </a:pPr>
            <a:r>
              <a:rPr lang="en-US" sz="1100" b="1" dirty="0">
                <a:effectLst/>
              </a:rPr>
              <a:t>Bridging Design and Development:</a:t>
            </a:r>
            <a:r>
              <a:rPr lang="en-US" sz="1100" dirty="0">
                <a:effectLst/>
              </a:rPr>
              <a:t> </a:t>
            </a:r>
            <a:r>
              <a:rPr lang="en-US" sz="1100" dirty="0" err="1">
                <a:effectLst/>
              </a:rPr>
              <a:t>Unreal's</a:t>
            </a:r>
            <a:r>
              <a:rPr lang="en-US" sz="1100">
                <a:effectLst/>
              </a:rPr>
              <a:t> Blueprints visual scripting system allows our artists and designers to actively build and test gameplay logic through an intuitive node-based interface. </a:t>
            </a:r>
          </a:p>
          <a:p>
            <a:pPr lvl="0">
              <a:lnSpc>
                <a:spcPct val="90000"/>
              </a:lnSpc>
            </a:pPr>
            <a:r>
              <a:rPr lang="en-US" sz="1100" b="1" dirty="0">
                <a:effectLst/>
              </a:rPr>
              <a:t>Highly Accessible Pricing Model:</a:t>
            </a:r>
            <a:r>
              <a:rPr lang="en-US" sz="1100" dirty="0">
                <a:effectLst/>
              </a:rPr>
              <a:t> The engine is completely free to use until a game generates $1 million in revenue, which gives our studio access to premium development tools with zero upfront software costs. </a:t>
            </a:r>
          </a:p>
          <a:p>
            <a:pPr lvl="0">
              <a:lnSpc>
                <a:spcPct val="90000"/>
              </a:lnSpc>
            </a:pPr>
            <a:r>
              <a:rPr lang="en-US" sz="1100" b="1" dirty="0">
                <a:effectLst/>
              </a:rPr>
              <a:t>Scalability and Developer Control:</a:t>
            </a:r>
            <a:r>
              <a:rPr lang="en-US" sz="1100" dirty="0">
                <a:effectLst/>
              </a:rPr>
              <a:t> Transitioning provides us with unrestricted access to the C++ source code, allowing engineers to modify the engine directly instead of facing expensive enterprise paywalls. </a:t>
            </a:r>
          </a:p>
          <a:p>
            <a:pPr lvl="0">
              <a:lnSpc>
                <a:spcPct val="90000"/>
              </a:lnSpc>
            </a:pPr>
            <a:r>
              <a:rPr lang="en-US" sz="1100" b="1" dirty="0">
                <a:effectLst/>
              </a:rPr>
              <a:t>Future-Proofing the Pipeline:</a:t>
            </a:r>
            <a:r>
              <a:rPr lang="en-US" sz="1100" dirty="0">
                <a:effectLst/>
              </a:rPr>
              <a:t> Native multiplayer infrastructure and advanced tools reduce our reliance on third-party plugins and external asset stores, clearing technical roadblocks for complex game development. </a:t>
            </a:r>
          </a:p>
          <a:p>
            <a:pPr>
              <a:lnSpc>
                <a:spcPct val="90000"/>
              </a:lnSpc>
            </a:pPr>
            <a:endParaRPr lang="en-US" sz="1100" dirty="0"/>
          </a:p>
        </p:txBody>
      </p:sp>
      <p:pic>
        <p:nvPicPr>
          <p:cNvPr id="5" name="Picture 4">
            <a:extLst>
              <a:ext uri="{FF2B5EF4-FFF2-40B4-BE49-F238E27FC236}">
                <a16:creationId xmlns:a16="http://schemas.microsoft.com/office/drawing/2014/main" id="{1F4C5448-74F8-B080-72C6-B61102F9A7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3192" y="1442684"/>
            <a:ext cx="5451627" cy="3652590"/>
          </a:xfrm>
          <a:prstGeom prst="roundRect">
            <a:avLst>
              <a:gd name="adj" fmla="val 3517"/>
            </a:avLst>
          </a:prstGeom>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pic>
      <p:sp>
        <p:nvSpPr>
          <p:cNvPr id="6" name="TextBox 5">
            <a:extLst>
              <a:ext uri="{FF2B5EF4-FFF2-40B4-BE49-F238E27FC236}">
                <a16:creationId xmlns:a16="http://schemas.microsoft.com/office/drawing/2014/main" id="{591256B4-4322-55D7-409B-4346709CE17A}"/>
              </a:ext>
            </a:extLst>
          </p:cNvPr>
          <p:cNvSpPr txBox="1"/>
          <p:nvPr/>
        </p:nvSpPr>
        <p:spPr>
          <a:xfrm>
            <a:off x="2546718" y="5230650"/>
            <a:ext cx="1639874" cy="369332"/>
          </a:xfrm>
          <a:prstGeom prst="rect">
            <a:avLst/>
          </a:prstGeom>
          <a:noFill/>
        </p:spPr>
        <p:txBody>
          <a:bodyPr wrap="square" rtlCol="0">
            <a:spAutoFit/>
          </a:bodyPr>
          <a:lstStyle/>
          <a:p>
            <a:r>
              <a:rPr lang="en-US" dirty="0"/>
              <a:t>(Butler, 2014)</a:t>
            </a:r>
          </a:p>
        </p:txBody>
      </p:sp>
    </p:spTree>
    <p:extLst>
      <p:ext uri="{BB962C8B-B14F-4D97-AF65-F5344CB8AC3E}">
        <p14:creationId xmlns:p14="http://schemas.microsoft.com/office/powerpoint/2010/main" val="666771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77F7B-FA20-261E-5CF7-36164C5CC971}"/>
              </a:ext>
            </a:extLst>
          </p:cNvPr>
          <p:cNvSpPr>
            <a:spLocks noGrp="1"/>
          </p:cNvSpPr>
          <p:nvPr>
            <p:ph type="title"/>
          </p:nvPr>
        </p:nvSpPr>
        <p:spPr/>
        <p:txBody>
          <a:bodyPr/>
          <a:lstStyle/>
          <a:p>
            <a:r>
              <a:rPr lang="en-US" b="1" dirty="0">
                <a:latin typeface="Arial" panose="020B0604020202020204" pitchFamily="34" charset="0"/>
                <a:cs typeface="Arial" panose="020B0604020202020204" pitchFamily="34" charset="0"/>
              </a:rPr>
              <a:t>References</a:t>
            </a:r>
          </a:p>
        </p:txBody>
      </p:sp>
      <p:sp>
        <p:nvSpPr>
          <p:cNvPr id="3" name="Content Placeholder 2">
            <a:extLst>
              <a:ext uri="{FF2B5EF4-FFF2-40B4-BE49-F238E27FC236}">
                <a16:creationId xmlns:a16="http://schemas.microsoft.com/office/drawing/2014/main" id="{2AC40100-FBD2-6B0E-B5FB-4B3E8D827146}"/>
              </a:ext>
            </a:extLst>
          </p:cNvPr>
          <p:cNvSpPr>
            <a:spLocks noGrp="1"/>
          </p:cNvSpPr>
          <p:nvPr>
            <p:ph idx="1"/>
          </p:nvPr>
        </p:nvSpPr>
        <p:spPr>
          <a:xfrm>
            <a:off x="838200" y="1690688"/>
            <a:ext cx="10515600" cy="5025797"/>
          </a:xfrm>
        </p:spPr>
        <p:txBody>
          <a:bodyPr>
            <a:normAutofit/>
          </a:bodyPr>
          <a:lstStyle/>
          <a:p>
            <a:pPr fontAlgn="base"/>
            <a:r>
              <a:rPr lang="en-US" dirty="0"/>
              <a:t>Wellington, B. (2022, September 30). </a:t>
            </a:r>
            <a:r>
              <a:rPr lang="en-US" i="1" dirty="0"/>
              <a:t>Dynamic lighting blade runner 2049</a:t>
            </a:r>
            <a:r>
              <a:rPr lang="en-US" dirty="0"/>
              <a:t> [Digital image]. </a:t>
            </a:r>
            <a:r>
              <a:rPr lang="en-US" dirty="0" err="1"/>
              <a:t>Pixabay</a:t>
            </a:r>
            <a:r>
              <a:rPr lang="en-US" dirty="0"/>
              <a:t>. </a:t>
            </a:r>
            <a:r>
              <a:rPr lang="en-US" dirty="0">
                <a:hlinkClick r:id="rId3"/>
              </a:rPr>
              <a:t>https://pixabay.com/illustrations/dynamic-lighting-blade-runner-2049-7490749/</a:t>
            </a:r>
            <a:endParaRPr lang="en-US" dirty="0"/>
          </a:p>
          <a:p>
            <a:pPr fontAlgn="base"/>
            <a:r>
              <a:rPr lang="en-US" dirty="0"/>
              <a:t>Garner, J. (2025, May 22). </a:t>
            </a:r>
            <a:r>
              <a:rPr lang="en-US" i="1" dirty="0"/>
              <a:t>Robot ai generated technology</a:t>
            </a:r>
            <a:r>
              <a:rPr lang="en-US" dirty="0"/>
              <a:t> [Digital image]. </a:t>
            </a:r>
            <a:r>
              <a:rPr lang="en-US" dirty="0" err="1"/>
              <a:t>Pixabay</a:t>
            </a:r>
            <a:r>
              <a:rPr lang="en-US" dirty="0"/>
              <a:t>. </a:t>
            </a:r>
            <a:r>
              <a:rPr lang="en-US" dirty="0">
                <a:hlinkClick r:id="rId4"/>
              </a:rPr>
              <a:t>https://pixabay.com/illustrations/robot-ai-generated-technology-9612727/</a:t>
            </a:r>
            <a:endParaRPr lang="en-US" dirty="0"/>
          </a:p>
          <a:p>
            <a:pPr fontAlgn="base"/>
            <a:r>
              <a:rPr lang="en-US" dirty="0"/>
              <a:t>Butler, G. (2014, July 10). </a:t>
            </a:r>
            <a:r>
              <a:rPr lang="en-US" i="1" dirty="0"/>
              <a:t>Battleship engine room historic war</a:t>
            </a:r>
            <a:r>
              <a:rPr lang="en-US" dirty="0"/>
              <a:t> [Digital image]. </a:t>
            </a:r>
            <a:r>
              <a:rPr lang="en-US" dirty="0" err="1"/>
              <a:t>Pixabay</a:t>
            </a:r>
            <a:r>
              <a:rPr lang="en-US" dirty="0"/>
              <a:t>. </a:t>
            </a:r>
            <a:r>
              <a:rPr lang="en-US" dirty="0">
                <a:hlinkClick r:id="rId5"/>
              </a:rPr>
              <a:t>https://pixabay.com/photos/battleship-engine-room-historic-war-389274</a:t>
            </a:r>
            <a:endParaRPr lang="en-US" dirty="0"/>
          </a:p>
          <a:p>
            <a:pPr lvl="0"/>
            <a:r>
              <a:rPr lang="en-US" dirty="0">
                <a:effectLst/>
              </a:rPr>
              <a:t>Bogner, Z. (2025, December 22). </a:t>
            </a:r>
            <a:r>
              <a:rPr lang="en-US" i="1" dirty="0">
                <a:effectLst/>
              </a:rPr>
              <a:t>Switching from Unity to Unreal</a:t>
            </a:r>
            <a:r>
              <a:rPr lang="en-US" dirty="0">
                <a:effectLst/>
              </a:rPr>
              <a:t>. Medium. </a:t>
            </a:r>
            <a:r>
              <a:rPr lang="en-US" u="sng" dirty="0">
                <a:effectLst/>
                <a:hlinkClick r:id="rId6"/>
              </a:rPr>
              <a:t>https://racerzstudios.medium.com/switching-from-unity-to-unreal-a5ca7476a951</a:t>
            </a:r>
            <a:endParaRPr lang="en-US" dirty="0">
              <a:effectLst/>
            </a:endParaRPr>
          </a:p>
          <a:p>
            <a:pPr lvl="0"/>
            <a:r>
              <a:rPr lang="en-US" dirty="0" err="1">
                <a:effectLst/>
              </a:rPr>
              <a:t>Fonarov</a:t>
            </a:r>
            <a:r>
              <a:rPr lang="en-US" dirty="0">
                <a:effectLst/>
              </a:rPr>
              <a:t>, O. (2026, July 16). </a:t>
            </a:r>
            <a:r>
              <a:rPr lang="en-US" i="1" dirty="0">
                <a:effectLst/>
              </a:rPr>
              <a:t>Unity vs Unreal Engine: which to choose</a:t>
            </a:r>
            <a:r>
              <a:rPr lang="en-US" dirty="0">
                <a:effectLst/>
              </a:rPr>
              <a:t>. Program-Ace Blog. </a:t>
            </a:r>
            <a:r>
              <a:rPr lang="en-US" u="sng" dirty="0">
                <a:effectLst/>
                <a:hlinkClick r:id="rId7"/>
              </a:rPr>
              <a:t>https://program-ace.com/blog/unity-vs-unreal/</a:t>
            </a:r>
            <a:endParaRPr lang="en-US" dirty="0">
              <a:effectLst/>
            </a:endParaRPr>
          </a:p>
          <a:p>
            <a:pPr lvl="0"/>
            <a:r>
              <a:rPr lang="en-US" dirty="0" err="1">
                <a:effectLst/>
              </a:rPr>
              <a:t>Mozolevska</a:t>
            </a:r>
            <a:r>
              <a:rPr lang="en-US" dirty="0">
                <a:effectLst/>
              </a:rPr>
              <a:t>, V. (2026, June 24). </a:t>
            </a:r>
            <a:r>
              <a:rPr lang="en-US" i="1" dirty="0">
                <a:effectLst/>
              </a:rPr>
              <a:t>Unity vs Unreal Engine: Pros and Cons</a:t>
            </a:r>
            <a:r>
              <a:rPr lang="en-US" dirty="0">
                <a:effectLst/>
              </a:rPr>
              <a:t>. </a:t>
            </a:r>
            <a:r>
              <a:rPr lang="en-US" dirty="0" err="1">
                <a:effectLst/>
              </a:rPr>
              <a:t>Kevuru</a:t>
            </a:r>
            <a:r>
              <a:rPr lang="en-US" dirty="0">
                <a:effectLst/>
              </a:rPr>
              <a:t> Games Blog. </a:t>
            </a:r>
            <a:r>
              <a:rPr lang="en-US" u="sng" dirty="0">
                <a:effectLst/>
                <a:hlinkClick r:id="rId8"/>
              </a:rPr>
              <a:t>https://kevurugames.com/blog/unity-vs-unreal-engine-pros-and-cons/</a:t>
            </a:r>
            <a:endParaRPr lang="en-US" dirty="0">
              <a:effectLst/>
            </a:endParaRPr>
          </a:p>
          <a:p>
            <a:pPr marL="0" indent="0" fontAlgn="base">
              <a:buNone/>
            </a:pPr>
            <a:endParaRPr lang="en-US" dirty="0"/>
          </a:p>
        </p:txBody>
      </p:sp>
    </p:spTree>
    <p:extLst>
      <p:ext uri="{BB962C8B-B14F-4D97-AF65-F5344CB8AC3E}">
        <p14:creationId xmlns:p14="http://schemas.microsoft.com/office/powerpoint/2010/main" val="181555497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esh">
  <a:themeElements>
    <a:clrScheme name="Mesh">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Mesh">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CBC5002AFCB7E46BAF73E9A815C6C0B" ma:contentTypeVersion="24" ma:contentTypeDescription="Create a new document." ma:contentTypeScope="" ma:versionID="b27c6f58839bfef4bad59f4d0f72ed45">
  <xsd:schema xmlns:xsd="http://www.w3.org/2001/XMLSchema" xmlns:xs="http://www.w3.org/2001/XMLSchema" xmlns:p="http://schemas.microsoft.com/office/2006/metadata/properties" xmlns:ns1="http://schemas.microsoft.com/sharepoint/v3" xmlns:ns2="455c6a40-5156-4ee1-b6e1-75a9942fd30d" xmlns:ns3="5dbce95a-b870-4f3c-86f9-0deb968cc4b5" targetNamespace="http://schemas.microsoft.com/office/2006/metadata/properties" ma:root="true" ma:fieldsID="490fb9eeac8a79c9dd9069dbae148df6" ns1:_="" ns2:_="" ns3:_="">
    <xsd:import namespace="http://schemas.microsoft.com/sharepoint/v3"/>
    <xsd:import namespace="455c6a40-5156-4ee1-b6e1-75a9942fd30d"/>
    <xsd:import namespace="5dbce95a-b870-4f3c-86f9-0deb968cc4b5"/>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EventHashCode" minOccurs="0"/>
                <xsd:element ref="ns2:MediaServiceGenerationTime" minOccurs="0"/>
                <xsd:element ref="ns2:MediaServiceAutoTags" minOccurs="0"/>
                <xsd:element ref="ns2:MediaServiceOCR" minOccurs="0"/>
                <xsd:element ref="ns2:MediaServiceDateTaken" minOccurs="0"/>
                <xsd:element ref="ns2:MediaServiceAutoKeyPoints" minOccurs="0"/>
                <xsd:element ref="ns2:MediaServiceKeyPoints" minOccurs="0"/>
                <xsd:element ref="ns2:MediaServiceLocation" minOccurs="0"/>
                <xsd:element ref="ns2:MediaLengthInSeconds" minOccurs="0"/>
                <xsd:element ref="ns1:_ip_UnifiedCompliancePolicyProperties" minOccurs="0"/>
                <xsd:element ref="ns1:_ip_UnifiedCompliancePolicyUIAction" minOccurs="0"/>
                <xsd:element ref="ns3:TaxCatchAll" minOccurs="0"/>
                <xsd:element ref="ns2:lcf76f155ced4ddcb4097134ff3c332f" minOccurs="0"/>
                <xsd:element ref="ns2:Not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1" nillable="true" ma:displayName="Unified Compliance Policy Properties" ma:hidden="true" ma:internalName="_ip_UnifiedCompliancePolicyProperties">
      <xsd:simpleType>
        <xsd:restriction base="dms:Note"/>
      </xsd:simpleType>
    </xsd:element>
    <xsd:element name="_ip_UnifiedCompliancePolicyUIAction" ma:index="2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55c6a40-5156-4ee1-b6e1-75a9942fd30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acb2b71a-ac8b-4347-9f63-f75d234e2459" ma:termSetId="09814cd3-568e-fe90-9814-8d621ff8fb84" ma:anchorId="fba54fb3-c3e1-fe81-a776-ca4b69148c4d" ma:open="true" ma:isKeyword="false">
      <xsd:complexType>
        <xsd:sequence>
          <xsd:element ref="pc:Terms" minOccurs="0" maxOccurs="1"/>
        </xsd:sequence>
      </xsd:complexType>
    </xsd:element>
    <xsd:element name="Notes" ma:index="26" nillable="true" ma:displayName="Notes " ma:format="Dropdown" ma:internalName="Note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dbce95a-b870-4f3c-86f9-0deb968cc4b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0c2b290c-d895-40c0-8c28-54a180c62a3d}" ma:internalName="TaxCatchAll" ma:showField="CatchAllData" ma:web="5dbce95a-b870-4f3c-86f9-0deb968cc4b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dbce95a-b870-4f3c-86f9-0deb968cc4b5" xsi:nil="true"/>
    <_ip_UnifiedCompliancePolicyProperties xmlns="http://schemas.microsoft.com/sharepoint/v3" xsi:nil="true"/>
    <Notes xmlns="455c6a40-5156-4ee1-b6e1-75a9942fd30d" xsi:nil="true"/>
    <lcf76f155ced4ddcb4097134ff3c332f xmlns="455c6a40-5156-4ee1-b6e1-75a9942fd30d">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7E53F204-395E-4F3C-8F80-C0935E99D3F8}">
  <ds:schemaRefs>
    <ds:schemaRef ds:uri="http://schemas.microsoft.com/sharepoint/v3/contenttype/forms"/>
  </ds:schemaRefs>
</ds:datastoreItem>
</file>

<file path=customXml/itemProps2.xml><?xml version="1.0" encoding="utf-8"?>
<ds:datastoreItem xmlns:ds="http://schemas.openxmlformats.org/officeDocument/2006/customXml" ds:itemID="{EB2987D0-E9E6-455C-A68D-89CE1DC5EC0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55c6a40-5156-4ee1-b6e1-75a9942fd30d"/>
    <ds:schemaRef ds:uri="5dbce95a-b870-4f3c-86f9-0deb968cc4b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50A1619-84E8-46FA-9348-FD4E668A85AF}">
  <ds:schemaRefs>
    <ds:schemaRef ds:uri="http://schemas.microsoft.com/office/2006/metadata/properties"/>
    <ds:schemaRef ds:uri="http://schemas.microsoft.com/office/infopath/2007/PartnerControls"/>
    <ds:schemaRef ds:uri="http://schemas.microsoft.com/sharepoint/v3"/>
    <ds:schemaRef ds:uri="5dbce95a-b870-4f3c-86f9-0deb968cc4b5"/>
    <ds:schemaRef ds:uri="455c6a40-5156-4ee1-b6e1-75a9942fd30d"/>
  </ds:schemaRefs>
</ds:datastoreItem>
</file>

<file path=docProps/app.xml><?xml version="1.0" encoding="utf-8"?>
<Properties xmlns="http://schemas.openxmlformats.org/officeDocument/2006/extended-properties" xmlns:vt="http://schemas.openxmlformats.org/officeDocument/2006/docPropsVTypes">
  <Template>TM03457485[[fn=Mesh]]</Template>
  <TotalTime>208</TotalTime>
  <Words>785</Words>
  <Application>Microsoft Office PowerPoint</Application>
  <PresentationFormat>Widescreen</PresentationFormat>
  <Paragraphs>39</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Century Gothic</vt:lpstr>
      <vt:lpstr>Mesh</vt:lpstr>
      <vt:lpstr>Transitioning To Unreal Engine</vt:lpstr>
      <vt:lpstr>Agenda</vt:lpstr>
      <vt:lpstr>What is the Technology (or practice/process)?</vt:lpstr>
      <vt:lpstr>Benefits of the Technology to Our Company </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D339 Task 2 (WGM2) Template</dc:title>
  <dc:creator>Diana Tucker</dc:creator>
  <cp:lastModifiedBy>Samuel Zipperer</cp:lastModifiedBy>
  <cp:revision>16</cp:revision>
  <dcterms:created xsi:type="dcterms:W3CDTF">2023-03-06T15:14:42Z</dcterms:created>
  <dcterms:modified xsi:type="dcterms:W3CDTF">2026-10-12T23:39:51Z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0x010100ECBC5002AFCB7E46BAF73E9A815C6C0B</vt:lpwstr>
  </property>
  <property fmtid="{D5CDD505-2E9C-101B-9397-08002B2CF9AE}" pid="3" name="MediaServiceImageTags">
    <vt:lpwstr/>
  </property>
</Properties>
</file>